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6858000" cy="9144000"/>
  <p:embeddedFontLst>
    <p:embeddedFont>
      <p:font typeface="Poppins"/>
      <p:regular r:id="rId19"/>
      <p:bold r:id="rId20"/>
      <p:italic r:id="rId21"/>
      <p:boldItalic r:id="rId22"/>
    </p:embeddedFont>
    <p:embeddedFont>
      <p:font typeface="Urbanist SemiBold"/>
      <p:regular r:id="rId23"/>
      <p:bold r:id="rId24"/>
      <p:italic r:id="rId25"/>
      <p:boldItalic r:id="rId26"/>
    </p:embeddedFont>
    <p:embeddedFont>
      <p:font typeface="Urbanist Medium"/>
      <p:regular r:id="rId27"/>
      <p:bold r:id="rId28"/>
      <p:italic r:id="rId29"/>
      <p:boldItalic r:id="rId30"/>
    </p:embeddedFont>
    <p:embeddedFont>
      <p:font typeface="Urbanist"/>
      <p:regular r:id="rId31"/>
      <p:bold r:id="rId32"/>
      <p:italic r:id="rId33"/>
      <p:boldItalic r:id="rId34"/>
    </p:embeddedFont>
    <p:embeddedFont>
      <p:font typeface="Poppins SemiBold"/>
      <p:regular r:id="rId35"/>
      <p:bold r:id="rId36"/>
      <p:italic r:id="rId37"/>
      <p:boldItalic r:id="rId38"/>
    </p:embeddedFont>
    <p:embeddedFont>
      <p:font typeface="Poppins ExtraBold"/>
      <p:bold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7E6D0F-0215-483C-9126-245023136113}">
  <a:tblStyle styleId="{307E6D0F-0215-483C-9126-24502313611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ExtraBold-boldItalic.fntdata"/><Relationship Id="rId20" Type="http://schemas.openxmlformats.org/officeDocument/2006/relationships/font" Target="fonts/Poppins-bold.fntdata"/><Relationship Id="rId22" Type="http://schemas.openxmlformats.org/officeDocument/2006/relationships/font" Target="fonts/Poppins-boldItalic.fntdata"/><Relationship Id="rId21" Type="http://schemas.openxmlformats.org/officeDocument/2006/relationships/font" Target="fonts/Poppins-italic.fntdata"/><Relationship Id="rId24" Type="http://schemas.openxmlformats.org/officeDocument/2006/relationships/font" Target="fonts/UrbanistSemiBold-bold.fntdata"/><Relationship Id="rId23" Type="http://schemas.openxmlformats.org/officeDocument/2006/relationships/font" Target="fonts/Urbanist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UrbanistSemiBold-boldItalic.fntdata"/><Relationship Id="rId25" Type="http://schemas.openxmlformats.org/officeDocument/2006/relationships/font" Target="fonts/UrbanistSemiBold-italic.fntdata"/><Relationship Id="rId28" Type="http://schemas.openxmlformats.org/officeDocument/2006/relationships/font" Target="fonts/UrbanistMedium-bold.fntdata"/><Relationship Id="rId27" Type="http://schemas.openxmlformats.org/officeDocument/2006/relationships/font" Target="fonts/UrbanistMedium-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UrbanistMedium-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Urbanist-regular.fntdata"/><Relationship Id="rId30" Type="http://schemas.openxmlformats.org/officeDocument/2006/relationships/font" Target="fonts/UrbanistMedium-boldItalic.fntdata"/><Relationship Id="rId11" Type="http://schemas.openxmlformats.org/officeDocument/2006/relationships/slide" Target="slides/slide5.xml"/><Relationship Id="rId33" Type="http://schemas.openxmlformats.org/officeDocument/2006/relationships/font" Target="fonts/Urbanist-italic.fntdata"/><Relationship Id="rId10" Type="http://schemas.openxmlformats.org/officeDocument/2006/relationships/slide" Target="slides/slide4.xml"/><Relationship Id="rId32" Type="http://schemas.openxmlformats.org/officeDocument/2006/relationships/font" Target="fonts/Urbanist-bold.fntdata"/><Relationship Id="rId13" Type="http://schemas.openxmlformats.org/officeDocument/2006/relationships/slide" Target="slides/slide7.xml"/><Relationship Id="rId35" Type="http://schemas.openxmlformats.org/officeDocument/2006/relationships/font" Target="fonts/PoppinsSemiBold-regular.fntdata"/><Relationship Id="rId12" Type="http://schemas.openxmlformats.org/officeDocument/2006/relationships/slide" Target="slides/slide6.xml"/><Relationship Id="rId34" Type="http://schemas.openxmlformats.org/officeDocument/2006/relationships/font" Target="fonts/Urbanist-boldItalic.fntdata"/><Relationship Id="rId15" Type="http://schemas.openxmlformats.org/officeDocument/2006/relationships/slide" Target="slides/slide9.xml"/><Relationship Id="rId37" Type="http://schemas.openxmlformats.org/officeDocument/2006/relationships/font" Target="fonts/PoppinsSemiBold-italic.fntdata"/><Relationship Id="rId14" Type="http://schemas.openxmlformats.org/officeDocument/2006/relationships/slide" Target="slides/slide8.xml"/><Relationship Id="rId36" Type="http://schemas.openxmlformats.org/officeDocument/2006/relationships/font" Target="fonts/PoppinsSemiBold-bold.fntdata"/><Relationship Id="rId17" Type="http://schemas.openxmlformats.org/officeDocument/2006/relationships/slide" Target="slides/slide11.xml"/><Relationship Id="rId39" Type="http://schemas.openxmlformats.org/officeDocument/2006/relationships/font" Target="fonts/PoppinsExtraBold-bold.fntdata"/><Relationship Id="rId16" Type="http://schemas.openxmlformats.org/officeDocument/2006/relationships/slide" Target="slides/slide10.xml"/><Relationship Id="rId38" Type="http://schemas.openxmlformats.org/officeDocument/2006/relationships/font" Target="fonts/PoppinsSemiBold-boldItalic.fntdata"/><Relationship Id="rId19" Type="http://schemas.openxmlformats.org/officeDocument/2006/relationships/font" Target="fonts/Poppins-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Hamad</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Hamad</a:t>
            </a:r>
            <a:endParaRPr/>
          </a:p>
        </p:txBody>
      </p:sp>
      <p:sp>
        <p:nvSpPr>
          <p:cNvPr id="99" name="Google Shape;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Hamd</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Jeremiah</a:t>
            </a:r>
            <a:endParaRPr/>
          </a:p>
        </p:txBody>
      </p:sp>
      <p:sp>
        <p:nvSpPr>
          <p:cNvPr id="132" name="Google Shape;1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Jeremiah</a:t>
            </a:r>
            <a:endParaRPr/>
          </a:p>
        </p:txBody>
      </p:sp>
      <p:sp>
        <p:nvSpPr>
          <p:cNvPr id="152" name="Google Shape;15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Jeremiah</a:t>
            </a:r>
            <a:endParaRPr/>
          </a:p>
        </p:txBody>
      </p:sp>
      <p:sp>
        <p:nvSpPr>
          <p:cNvPr id="171" name="Google Shape;17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Rene - When it comes to performance optimization, our database-first approach ensures that recurring queries are delivered instantly, preserving both user experience and computational resources. By caching sentiment results, we significantly reduced reliance on expensive live LLM inference for repeat locations.</a:t>
            </a:r>
            <a:endParaRPr/>
          </a:p>
        </p:txBody>
      </p:sp>
      <p:sp>
        <p:nvSpPr>
          <p:cNvPr id="188" name="Google Shape;18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Rene - When comparing our project to what’s available on the market, the distinction lies mainly in our pricing model and presentation of clear, unbiased information to the user. Layla AI, for example, has an unclear pricing focus, and only gives a general sentiment with </a:t>
            </a:r>
            <a:r>
              <a:rPr lang="en-US"/>
              <a:t>regards to the tours it displays to the user once it has created an itinerary. Additionally, it has a noticeable lack of a “value score”, meaning that it does not show the user if it is a good value compared to other available tours in the area. EasyTripAI has a subscription-based pricing model, but does display scam detection, however it does not necessarily have a “value score” but a “reality score” based on crowding and prevalent scams, however the judgement criteria is unclear for the user. Our TourGPT, in contrast with these other AI tools on the market, is free to use, displays the general sentiment score of user reviews, displays if a tour is a scam or not, and provides a clear indication of value and pricing for a tour.</a:t>
            </a:r>
            <a:endParaRPr/>
          </a:p>
        </p:txBody>
      </p:sp>
      <p:sp>
        <p:nvSpPr>
          <p:cNvPr id="202" name="Google Shape;20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dbcd7931b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dbcd7931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16.png"/><Relationship Id="rId6"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5.png"/><Relationship Id="rId7"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4370784" y="1938337"/>
            <a:ext cx="3450431" cy="8382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6000" u="none" cap="none" strike="noStrike">
                <a:solidFill>
                  <a:srgbClr val="F8FAFC"/>
                </a:solidFill>
                <a:latin typeface="Poppins"/>
                <a:ea typeface="Poppins"/>
                <a:cs typeface="Poppins"/>
                <a:sym typeface="Poppins"/>
              </a:rPr>
              <a:t>TourGPT</a:t>
            </a:r>
            <a:endParaRPr/>
          </a:p>
        </p:txBody>
      </p:sp>
      <p:sp>
        <p:nvSpPr>
          <p:cNvPr id="86" name="Google Shape;86;p13"/>
          <p:cNvSpPr txBox="1"/>
          <p:nvPr/>
        </p:nvSpPr>
        <p:spPr>
          <a:xfrm>
            <a:off x="3205162" y="3271837"/>
            <a:ext cx="5781675" cy="45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2400" u="none" cap="none" strike="noStrike">
                <a:solidFill>
                  <a:srgbClr val="94A3B8"/>
                </a:solidFill>
                <a:latin typeface="Urbanist"/>
                <a:ea typeface="Urbanist"/>
                <a:cs typeface="Urbanist"/>
                <a:sym typeface="Urbanist"/>
              </a:rPr>
              <a:t>AI-Driven Analysis for Modern Trip Planning</a:t>
            </a:r>
            <a:endParaRPr/>
          </a:p>
        </p:txBody>
      </p:sp>
      <p:sp>
        <p:nvSpPr>
          <p:cNvPr id="87" name="Google Shape;87;p13"/>
          <p:cNvSpPr/>
          <p:nvPr/>
        </p:nvSpPr>
        <p:spPr>
          <a:xfrm>
            <a:off x="5524500" y="4319587"/>
            <a:ext cx="1143000" cy="57150"/>
          </a:xfrm>
          <a:prstGeom prst="roundRect">
            <a:avLst>
              <a:gd fmla="val 50000" name="adj"/>
            </a:avLst>
          </a:prstGeom>
          <a:solidFill>
            <a:srgbClr val="7C3A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txBox="1"/>
          <p:nvPr/>
        </p:nvSpPr>
        <p:spPr>
          <a:xfrm>
            <a:off x="3543300" y="4662487"/>
            <a:ext cx="51054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7C3AED"/>
                </a:solidFill>
                <a:latin typeface="Urbanist SemiBold"/>
                <a:ea typeface="Urbanist SemiBold"/>
                <a:cs typeface="Urbanist SemiBold"/>
                <a:sym typeface="Urbanist SemiBold"/>
              </a:rPr>
              <a:t>Rene Almeida • Jeremiah Hermosillo • Hamad </a:t>
            </a:r>
            <a:r>
              <a:rPr lang="en-US" sz="1650">
                <a:solidFill>
                  <a:srgbClr val="7C3AED"/>
                </a:solidFill>
                <a:latin typeface="Urbanist SemiBold"/>
                <a:ea typeface="Urbanist SemiBold"/>
                <a:cs typeface="Urbanist SemiBold"/>
                <a:sym typeface="Urbanist SemiBold"/>
              </a:rPr>
              <a:t>Chughtai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A"/>
        </a:solidFill>
      </p:bgPr>
    </p:bg>
    <p:spTree>
      <p:nvGrpSpPr>
        <p:cNvPr id="92" name="Shape 92"/>
        <p:cNvGrpSpPr/>
        <p:nvPr/>
      </p:nvGrpSpPr>
      <p:grpSpPr>
        <a:xfrm>
          <a:off x="0" y="0"/>
          <a:ext cx="0" cy="0"/>
          <a:chOff x="0" y="0"/>
          <a:chExt cx="0" cy="0"/>
        </a:xfrm>
      </p:grpSpPr>
      <p:pic>
        <p:nvPicPr>
          <p:cNvPr descr="image.png" id="93" name="Google Shape;93;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4" name="Google Shape;94;p14"/>
          <p:cNvSpPr txBox="1"/>
          <p:nvPr/>
        </p:nvSpPr>
        <p:spPr>
          <a:xfrm>
            <a:off x="2760583" y="2000250"/>
            <a:ext cx="6670833" cy="129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750" u="none" cap="none" strike="noStrike">
                <a:solidFill>
                  <a:srgbClr val="F8FAFC"/>
                </a:solidFill>
                <a:latin typeface="Poppins"/>
                <a:ea typeface="Poppins"/>
                <a:cs typeface="Poppins"/>
                <a:sym typeface="Poppins"/>
              </a:rPr>
              <a:t>The Challenge</a:t>
            </a:r>
            <a:endParaRPr/>
          </a:p>
        </p:txBody>
      </p:sp>
      <p:sp>
        <p:nvSpPr>
          <p:cNvPr id="95" name="Google Shape;95;p14"/>
          <p:cNvSpPr/>
          <p:nvPr/>
        </p:nvSpPr>
        <p:spPr>
          <a:xfrm>
            <a:off x="5524500" y="3581400"/>
            <a:ext cx="1143000" cy="57150"/>
          </a:xfrm>
          <a:prstGeom prst="roundRect">
            <a:avLst>
              <a:gd fmla="val 50000" name="adj"/>
            </a:avLst>
          </a:prstGeom>
          <a:solidFill>
            <a:srgbClr val="7C3A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14"/>
          <p:cNvSpPr txBox="1"/>
          <p:nvPr/>
        </p:nvSpPr>
        <p:spPr>
          <a:xfrm>
            <a:off x="4062412" y="4191000"/>
            <a:ext cx="4067175" cy="4000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2100" u="none" cap="none" strike="noStrike">
                <a:solidFill>
                  <a:srgbClr val="94A3B8"/>
                </a:solidFill>
                <a:latin typeface="Urbanist"/>
                <a:ea typeface="Urbanist"/>
                <a:cs typeface="Urbanist"/>
                <a:sym typeface="Urbanist"/>
              </a:rPr>
              <a:t>Defining the "Tourist Trap" Problem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A"/>
        </a:solidFill>
      </p:bgPr>
    </p:bg>
    <p:spTree>
      <p:nvGrpSpPr>
        <p:cNvPr id="100" name="Shape 100"/>
        <p:cNvGrpSpPr/>
        <p:nvPr/>
      </p:nvGrpSpPr>
      <p:grpSpPr>
        <a:xfrm>
          <a:off x="0" y="0"/>
          <a:ext cx="0" cy="0"/>
          <a:chOff x="0" y="0"/>
          <a:chExt cx="0" cy="0"/>
        </a:xfrm>
      </p:grpSpPr>
      <p:pic>
        <p:nvPicPr>
          <p:cNvPr descr="image.png" id="101" name="Google Shape;101;p15"/>
          <p:cNvPicPr preferRelativeResize="0"/>
          <p:nvPr/>
        </p:nvPicPr>
        <p:blipFill rotWithShape="1">
          <a:blip r:embed="rId3">
            <a:alphaModFix/>
          </a:blip>
          <a:srcRect b="0" l="0" r="0" t="0"/>
          <a:stretch/>
        </p:blipFill>
        <p:spPr>
          <a:xfrm>
            <a:off x="6334125" y="1919287"/>
            <a:ext cx="5286375" cy="4000500"/>
          </a:xfrm>
          <a:prstGeom prst="rect">
            <a:avLst/>
          </a:prstGeom>
          <a:noFill/>
          <a:ln>
            <a:noFill/>
          </a:ln>
        </p:spPr>
      </p:pic>
      <p:sp>
        <p:nvSpPr>
          <p:cNvPr id="102" name="Google Shape;102;p15"/>
          <p:cNvSpPr txBox="1"/>
          <p:nvPr/>
        </p:nvSpPr>
        <p:spPr>
          <a:xfrm>
            <a:off x="571500" y="2328862"/>
            <a:ext cx="5550600" cy="338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200" u="none" cap="none" strike="noStrike">
                <a:solidFill>
                  <a:srgbClr val="7C3AED"/>
                </a:solidFill>
                <a:latin typeface="Poppins SemiBold"/>
                <a:ea typeface="Poppins SemiBold"/>
                <a:cs typeface="Poppins SemiBold"/>
                <a:sym typeface="Poppins SemiBold"/>
              </a:rPr>
              <a:t>Opaque Value Metrics</a:t>
            </a:r>
            <a:endParaRPr sz="1500"/>
          </a:p>
        </p:txBody>
      </p:sp>
      <p:sp>
        <p:nvSpPr>
          <p:cNvPr id="103" name="Google Shape;103;p15"/>
          <p:cNvSpPr txBox="1"/>
          <p:nvPr/>
        </p:nvSpPr>
        <p:spPr>
          <a:xfrm>
            <a:off x="571500" y="2919412"/>
            <a:ext cx="5286300" cy="615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600" u="none" cap="none" strike="noStrike">
                <a:solidFill>
                  <a:srgbClr val="94A3B8"/>
                </a:solidFill>
                <a:latin typeface="Urbanist"/>
                <a:ea typeface="Urbanist"/>
                <a:cs typeface="Urbanist"/>
                <a:sym typeface="Urbanist"/>
              </a:rPr>
              <a:t>Travelers struggle to determine if a location is a "tourist trap" due to:</a:t>
            </a:r>
            <a:endParaRPr sz="1500"/>
          </a:p>
        </p:txBody>
      </p:sp>
      <p:pic>
        <p:nvPicPr>
          <p:cNvPr descr="image.png" id="104" name="Google Shape;104;p15"/>
          <p:cNvPicPr preferRelativeResize="0"/>
          <p:nvPr/>
        </p:nvPicPr>
        <p:blipFill rotWithShape="1">
          <a:blip r:embed="rId4">
            <a:alphaModFix/>
          </a:blip>
          <a:srcRect b="0" l="0" r="0" t="0"/>
          <a:stretch/>
        </p:blipFill>
        <p:spPr>
          <a:xfrm>
            <a:off x="6343650" y="1928812"/>
            <a:ext cx="5267325" cy="3981450"/>
          </a:xfrm>
          <a:prstGeom prst="rect">
            <a:avLst/>
          </a:prstGeom>
          <a:noFill/>
          <a:ln>
            <a:noFill/>
          </a:ln>
        </p:spPr>
      </p:pic>
      <p:sp>
        <p:nvSpPr>
          <p:cNvPr id="105" name="Google Shape;105;p15"/>
          <p:cNvSpPr txBox="1"/>
          <p:nvPr/>
        </p:nvSpPr>
        <p:spPr>
          <a:xfrm>
            <a:off x="952500" y="3681412"/>
            <a:ext cx="4905300" cy="246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600" u="none" cap="none" strike="noStrike">
                <a:solidFill>
                  <a:srgbClr val="94A3B8"/>
                </a:solidFill>
                <a:latin typeface="Urbanist"/>
                <a:ea typeface="Urbanist"/>
                <a:cs typeface="Urbanist"/>
                <a:sym typeface="Urbanist"/>
              </a:rPr>
              <a:t>Over-inflated pricing relative to service quality.</a:t>
            </a:r>
            <a:endParaRPr sz="1500"/>
          </a:p>
        </p:txBody>
      </p:sp>
      <p:sp>
        <p:nvSpPr>
          <p:cNvPr id="106" name="Google Shape;106;p15"/>
          <p:cNvSpPr txBox="1"/>
          <p:nvPr/>
        </p:nvSpPr>
        <p:spPr>
          <a:xfrm>
            <a:off x="952500" y="4138612"/>
            <a:ext cx="4905300" cy="246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600" u="none" cap="none" strike="noStrike">
                <a:solidFill>
                  <a:srgbClr val="94A3B8"/>
                </a:solidFill>
                <a:latin typeface="Urbanist"/>
                <a:ea typeface="Urbanist"/>
                <a:cs typeface="Urbanist"/>
                <a:sym typeface="Urbanist"/>
              </a:rPr>
              <a:t>Saturation of "shallow" or incentivized reviews.</a:t>
            </a:r>
            <a:endParaRPr sz="1500"/>
          </a:p>
        </p:txBody>
      </p:sp>
      <p:sp>
        <p:nvSpPr>
          <p:cNvPr id="107" name="Google Shape;107;p15"/>
          <p:cNvSpPr txBox="1"/>
          <p:nvPr/>
        </p:nvSpPr>
        <p:spPr>
          <a:xfrm>
            <a:off x="952500" y="4595812"/>
            <a:ext cx="4905300" cy="246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600" u="none" cap="none" strike="noStrike">
                <a:solidFill>
                  <a:srgbClr val="94A3B8"/>
                </a:solidFill>
                <a:latin typeface="Urbanist"/>
                <a:ea typeface="Urbanist"/>
                <a:cs typeface="Urbanist"/>
                <a:sym typeface="Urbanist"/>
              </a:rPr>
              <a:t>High tourist density masking low-quality experiences.</a:t>
            </a:r>
            <a:endParaRPr sz="1500"/>
          </a:p>
        </p:txBody>
      </p:sp>
      <p:sp>
        <p:nvSpPr>
          <p:cNvPr id="108" name="Google Shape;108;p15"/>
          <p:cNvSpPr txBox="1"/>
          <p:nvPr/>
        </p:nvSpPr>
        <p:spPr>
          <a:xfrm>
            <a:off x="952500" y="5053012"/>
            <a:ext cx="4905300" cy="615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600" u="none" cap="none" strike="noStrike">
                <a:solidFill>
                  <a:srgbClr val="94A3B8"/>
                </a:solidFill>
                <a:latin typeface="Urbanist"/>
                <a:ea typeface="Urbanist"/>
                <a:cs typeface="Urbanist"/>
                <a:sym typeface="Urbanist"/>
              </a:rPr>
              <a:t>Difficulty aggregating sentiment across diverse platforms.</a:t>
            </a:r>
            <a:endParaRPr sz="1500"/>
          </a:p>
        </p:txBody>
      </p:sp>
      <p:sp>
        <p:nvSpPr>
          <p:cNvPr id="109" name="Google Shape;109;p15"/>
          <p:cNvSpPr txBox="1"/>
          <p:nvPr/>
        </p:nvSpPr>
        <p:spPr>
          <a:xfrm>
            <a:off x="571500" y="3681412"/>
            <a:ext cx="190500" cy="246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600" u="none" cap="none" strike="noStrike">
                <a:solidFill>
                  <a:srgbClr val="7C3AED"/>
                </a:solidFill>
                <a:latin typeface="Urbanist"/>
                <a:ea typeface="Urbanist"/>
                <a:cs typeface="Urbanist"/>
                <a:sym typeface="Urbanist"/>
              </a:rPr>
              <a:t>→</a:t>
            </a:r>
            <a:endParaRPr sz="1500"/>
          </a:p>
        </p:txBody>
      </p:sp>
      <p:sp>
        <p:nvSpPr>
          <p:cNvPr id="110" name="Google Shape;110;p15"/>
          <p:cNvSpPr txBox="1"/>
          <p:nvPr/>
        </p:nvSpPr>
        <p:spPr>
          <a:xfrm>
            <a:off x="571500" y="4138612"/>
            <a:ext cx="190500" cy="246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600" u="none" cap="none" strike="noStrike">
                <a:solidFill>
                  <a:srgbClr val="7C3AED"/>
                </a:solidFill>
                <a:latin typeface="Urbanist"/>
                <a:ea typeface="Urbanist"/>
                <a:cs typeface="Urbanist"/>
                <a:sym typeface="Urbanist"/>
              </a:rPr>
              <a:t>→</a:t>
            </a:r>
            <a:endParaRPr sz="1500"/>
          </a:p>
        </p:txBody>
      </p:sp>
      <p:sp>
        <p:nvSpPr>
          <p:cNvPr id="111" name="Google Shape;111;p15"/>
          <p:cNvSpPr txBox="1"/>
          <p:nvPr/>
        </p:nvSpPr>
        <p:spPr>
          <a:xfrm>
            <a:off x="571500" y="4595812"/>
            <a:ext cx="190500" cy="246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600" u="none" cap="none" strike="noStrike">
                <a:solidFill>
                  <a:srgbClr val="7C3AED"/>
                </a:solidFill>
                <a:latin typeface="Urbanist"/>
                <a:ea typeface="Urbanist"/>
                <a:cs typeface="Urbanist"/>
                <a:sym typeface="Urbanist"/>
              </a:rPr>
              <a:t>→</a:t>
            </a:r>
            <a:endParaRPr sz="1500"/>
          </a:p>
        </p:txBody>
      </p:sp>
      <p:sp>
        <p:nvSpPr>
          <p:cNvPr id="112" name="Google Shape;112;p15"/>
          <p:cNvSpPr txBox="1"/>
          <p:nvPr/>
        </p:nvSpPr>
        <p:spPr>
          <a:xfrm>
            <a:off x="571500" y="5053012"/>
            <a:ext cx="190500" cy="246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600" u="none" cap="none" strike="noStrike">
                <a:solidFill>
                  <a:srgbClr val="7C3AED"/>
                </a:solidFill>
                <a:latin typeface="Urbanist"/>
                <a:ea typeface="Urbanist"/>
                <a:cs typeface="Urbanist"/>
                <a:sym typeface="Urbanist"/>
              </a:rPr>
              <a:t>→</a:t>
            </a:r>
            <a:endParaRPr sz="1500"/>
          </a:p>
        </p:txBody>
      </p:sp>
      <p:sp>
        <p:nvSpPr>
          <p:cNvPr id="113" name="Google Shape;113;p15"/>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Information Asymmetry</a:t>
            </a:r>
            <a:endParaRPr/>
          </a:p>
        </p:txBody>
      </p:sp>
      <p:sp>
        <p:nvSpPr>
          <p:cNvPr id="114" name="Google Shape;114;p15"/>
          <p:cNvSpPr/>
          <p:nvPr/>
        </p:nvSpPr>
        <p:spPr>
          <a:xfrm>
            <a:off x="571500" y="571500"/>
            <a:ext cx="57150" cy="600075"/>
          </a:xfrm>
          <a:prstGeom prst="rect">
            <a:avLst/>
          </a:prstGeom>
          <a:solidFill>
            <a:srgbClr val="7C3A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 name="Shape 118"/>
        <p:cNvGrpSpPr/>
        <p:nvPr/>
      </p:nvGrpSpPr>
      <p:grpSpPr>
        <a:xfrm>
          <a:off x="0" y="0"/>
          <a:ext cx="0" cy="0"/>
          <a:chOff x="0" y="0"/>
          <a:chExt cx="0" cy="0"/>
        </a:xfrm>
      </p:grpSpPr>
      <p:pic>
        <p:nvPicPr>
          <p:cNvPr descr="image.png" id="119" name="Google Shape;119;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0" name="Google Shape;120;p16"/>
          <p:cNvSpPr txBox="1"/>
          <p:nvPr/>
        </p:nvSpPr>
        <p:spPr>
          <a:xfrm>
            <a:off x="762000" y="571500"/>
            <a:ext cx="50006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The TourGPT Logic</a:t>
            </a:r>
            <a:endParaRPr/>
          </a:p>
        </p:txBody>
      </p:sp>
      <p:sp>
        <p:nvSpPr>
          <p:cNvPr id="121" name="Google Shape;121;p16"/>
          <p:cNvSpPr/>
          <p:nvPr/>
        </p:nvSpPr>
        <p:spPr>
          <a:xfrm>
            <a:off x="571500" y="571500"/>
            <a:ext cx="57150" cy="600075"/>
          </a:xfrm>
          <a:prstGeom prst="rect">
            <a:avLst/>
          </a:prstGeom>
          <a:solidFill>
            <a:srgbClr val="7C3A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16"/>
          <p:cNvSpPr txBox="1"/>
          <p:nvPr/>
        </p:nvSpPr>
        <p:spPr>
          <a:xfrm>
            <a:off x="571500" y="1877162"/>
            <a:ext cx="5200800" cy="969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100">
                <a:solidFill>
                  <a:srgbClr val="7C3AED"/>
                </a:solidFill>
                <a:latin typeface="Poppins SemiBold"/>
                <a:ea typeface="Poppins SemiBold"/>
                <a:cs typeface="Poppins SemiBold"/>
                <a:sym typeface="Poppins SemiBold"/>
              </a:rPr>
              <a:t>An AI travel companion that automates the vetting process for you!</a:t>
            </a:r>
            <a:endParaRPr/>
          </a:p>
        </p:txBody>
      </p:sp>
      <p:sp>
        <p:nvSpPr>
          <p:cNvPr id="123" name="Google Shape;123;p16"/>
          <p:cNvSpPr txBox="1"/>
          <p:nvPr/>
        </p:nvSpPr>
        <p:spPr>
          <a:xfrm>
            <a:off x="952500" y="3250510"/>
            <a:ext cx="4572000" cy="246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600" u="none" cap="none" strike="noStrike">
                <a:solidFill>
                  <a:srgbClr val="94A3B8"/>
                </a:solidFill>
                <a:latin typeface="Urbanist"/>
                <a:ea typeface="Urbanist"/>
                <a:cs typeface="Urbanist"/>
                <a:sym typeface="Urbanist"/>
              </a:rPr>
              <a:t>City-Level Search:</a:t>
            </a:r>
            <a:r>
              <a:rPr b="0" i="0" lang="en-US" sz="1600" u="none" cap="none" strike="noStrike">
                <a:solidFill>
                  <a:srgbClr val="94A3B8"/>
                </a:solidFill>
                <a:latin typeface="Urbanist"/>
                <a:ea typeface="Urbanist"/>
                <a:cs typeface="Urbanist"/>
                <a:sym typeface="Urbanist"/>
              </a:rPr>
              <a:t> Scans Viator for local tours.</a:t>
            </a:r>
            <a:endParaRPr sz="1500"/>
          </a:p>
        </p:txBody>
      </p:sp>
      <p:sp>
        <p:nvSpPr>
          <p:cNvPr id="124" name="Google Shape;124;p16"/>
          <p:cNvSpPr txBox="1"/>
          <p:nvPr/>
        </p:nvSpPr>
        <p:spPr>
          <a:xfrm>
            <a:off x="952500" y="3707710"/>
            <a:ext cx="4572000" cy="615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600" u="none" cap="none" strike="noStrike">
                <a:solidFill>
                  <a:srgbClr val="94A3B8"/>
                </a:solidFill>
                <a:latin typeface="Urbanist"/>
                <a:ea typeface="Urbanist"/>
                <a:cs typeface="Urbanist"/>
                <a:sym typeface="Urbanist"/>
              </a:rPr>
              <a:t>Value Scoring:</a:t>
            </a:r>
            <a:r>
              <a:rPr b="0" i="0" lang="en-US" sz="1600" u="none" cap="none" strike="noStrike">
                <a:solidFill>
                  <a:srgbClr val="94A3B8"/>
                </a:solidFill>
                <a:latin typeface="Urbanist"/>
                <a:ea typeface="Urbanist"/>
                <a:cs typeface="Urbanist"/>
                <a:sym typeface="Urbanist"/>
              </a:rPr>
              <a:t> Cross-references price vs sentiment.</a:t>
            </a:r>
            <a:endParaRPr sz="1500"/>
          </a:p>
        </p:txBody>
      </p:sp>
      <p:sp>
        <p:nvSpPr>
          <p:cNvPr id="125" name="Google Shape;125;p16"/>
          <p:cNvSpPr txBox="1"/>
          <p:nvPr/>
        </p:nvSpPr>
        <p:spPr>
          <a:xfrm>
            <a:off x="952500" y="4506444"/>
            <a:ext cx="4572000" cy="615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600" u="none" cap="none" strike="noStrike">
                <a:solidFill>
                  <a:srgbClr val="94A3B8"/>
                </a:solidFill>
                <a:latin typeface="Urbanist"/>
                <a:ea typeface="Urbanist"/>
                <a:cs typeface="Urbanist"/>
                <a:sym typeface="Urbanist"/>
              </a:rPr>
              <a:t>Verified Ranking:</a:t>
            </a:r>
            <a:r>
              <a:rPr b="0" i="0" lang="en-US" sz="1600" u="none" cap="none" strike="noStrike">
                <a:solidFill>
                  <a:srgbClr val="94A3B8"/>
                </a:solidFill>
                <a:latin typeface="Urbanist"/>
                <a:ea typeface="Urbanist"/>
                <a:cs typeface="Urbanist"/>
                <a:sym typeface="Urbanist"/>
              </a:rPr>
              <a:t> Outputs a ranked list from "Best Value" to "Trap."</a:t>
            </a:r>
            <a:endParaRPr sz="1500"/>
          </a:p>
        </p:txBody>
      </p:sp>
      <p:sp>
        <p:nvSpPr>
          <p:cNvPr id="126" name="Google Shape;126;p16"/>
          <p:cNvSpPr txBox="1"/>
          <p:nvPr/>
        </p:nvSpPr>
        <p:spPr>
          <a:xfrm>
            <a:off x="571500" y="3264171"/>
            <a:ext cx="1905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7C3AED"/>
                </a:solidFill>
                <a:latin typeface="Urbanist"/>
                <a:ea typeface="Urbanist"/>
                <a:cs typeface="Urbanist"/>
                <a:sym typeface="Urbanist"/>
              </a:rPr>
              <a:t>→</a:t>
            </a:r>
            <a:endParaRPr/>
          </a:p>
        </p:txBody>
      </p:sp>
      <p:sp>
        <p:nvSpPr>
          <p:cNvPr id="127" name="Google Shape;127;p16"/>
          <p:cNvSpPr txBox="1"/>
          <p:nvPr/>
        </p:nvSpPr>
        <p:spPr>
          <a:xfrm>
            <a:off x="571500" y="3707710"/>
            <a:ext cx="1905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7C3AED"/>
                </a:solidFill>
                <a:latin typeface="Urbanist"/>
                <a:ea typeface="Urbanist"/>
                <a:cs typeface="Urbanist"/>
                <a:sym typeface="Urbanist"/>
              </a:rPr>
              <a:t>→</a:t>
            </a:r>
            <a:endParaRPr/>
          </a:p>
        </p:txBody>
      </p:sp>
      <p:sp>
        <p:nvSpPr>
          <p:cNvPr id="128" name="Google Shape;128;p16"/>
          <p:cNvSpPr txBox="1"/>
          <p:nvPr/>
        </p:nvSpPr>
        <p:spPr>
          <a:xfrm>
            <a:off x="571500" y="4506444"/>
            <a:ext cx="190500" cy="231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7C3AED"/>
                </a:solidFill>
                <a:latin typeface="Urbanist"/>
                <a:ea typeface="Urbanist"/>
                <a:cs typeface="Urbanist"/>
                <a:sym typeface="Urbanist"/>
              </a:rPr>
              <a:t>→</a:t>
            </a:r>
            <a:endParaRPr/>
          </a:p>
        </p:txBody>
      </p:sp>
      <p:pic>
        <p:nvPicPr>
          <p:cNvPr id="129" name="Google Shape;129;p16" title="travel-agent.png"/>
          <p:cNvPicPr preferRelativeResize="0"/>
          <p:nvPr/>
        </p:nvPicPr>
        <p:blipFill>
          <a:blip r:embed="rId4">
            <a:alphaModFix/>
          </a:blip>
          <a:stretch>
            <a:fillRect/>
          </a:stretch>
        </p:blipFill>
        <p:spPr>
          <a:xfrm>
            <a:off x="6690400" y="990600"/>
            <a:ext cx="4876800" cy="4876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3" name="Shape 133"/>
        <p:cNvGrpSpPr/>
        <p:nvPr/>
      </p:nvGrpSpPr>
      <p:grpSpPr>
        <a:xfrm>
          <a:off x="0" y="0"/>
          <a:ext cx="0" cy="0"/>
          <a:chOff x="0" y="0"/>
          <a:chExt cx="0" cy="0"/>
        </a:xfrm>
      </p:grpSpPr>
      <p:sp>
        <p:nvSpPr>
          <p:cNvPr id="134" name="Google Shape;134;p17"/>
          <p:cNvSpPr/>
          <p:nvPr/>
        </p:nvSpPr>
        <p:spPr>
          <a:xfrm>
            <a:off x="571500" y="3910012"/>
            <a:ext cx="11049000" cy="19050"/>
          </a:xfrm>
          <a:prstGeom prst="rect">
            <a:avLst/>
          </a:prstGeom>
          <a:solidFill>
            <a:srgbClr val="94A3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17"/>
          <p:cNvSpPr/>
          <p:nvPr/>
        </p:nvSpPr>
        <p:spPr>
          <a:xfrm>
            <a:off x="1752525" y="3081316"/>
            <a:ext cx="400200" cy="399900"/>
          </a:xfrm>
          <a:prstGeom prst="roundRect">
            <a:avLst>
              <a:gd fmla="val 50000" name="adj"/>
            </a:avLst>
          </a:prstGeom>
          <a:solidFill>
            <a:srgbClr val="7C3AED"/>
          </a:solidFill>
          <a:ln cap="flat" cmpd="sng" w="38100">
            <a:solidFill>
              <a:srgbClr val="0F111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1</a:t>
            </a:r>
            <a:endParaRPr b="1" i="0" sz="1800" u="none" cap="none" strike="noStrike">
              <a:solidFill>
                <a:schemeClr val="lt1"/>
              </a:solidFill>
              <a:latin typeface="Calibri"/>
              <a:ea typeface="Calibri"/>
              <a:cs typeface="Calibri"/>
              <a:sym typeface="Calibri"/>
            </a:endParaRPr>
          </a:p>
        </p:txBody>
      </p:sp>
      <p:sp>
        <p:nvSpPr>
          <p:cNvPr id="136" name="Google Shape;136;p17"/>
          <p:cNvSpPr txBox="1"/>
          <p:nvPr/>
        </p:nvSpPr>
        <p:spPr>
          <a:xfrm>
            <a:off x="602456" y="3595687"/>
            <a:ext cx="2700337"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7C3AED"/>
                </a:solidFill>
                <a:latin typeface="Poppins SemiBold"/>
                <a:ea typeface="Poppins SemiBold"/>
                <a:cs typeface="Poppins SemiBold"/>
                <a:sym typeface="Poppins SemiBold"/>
              </a:rPr>
              <a:t>Input</a:t>
            </a:r>
            <a:endParaRPr/>
          </a:p>
        </p:txBody>
      </p:sp>
      <p:sp>
        <p:nvSpPr>
          <p:cNvPr id="137" name="Google Shape;137;p17"/>
          <p:cNvSpPr txBox="1"/>
          <p:nvPr/>
        </p:nvSpPr>
        <p:spPr>
          <a:xfrm>
            <a:off x="666750" y="4186237"/>
            <a:ext cx="2571750" cy="571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94A3B8"/>
                </a:solidFill>
                <a:latin typeface="Urbanist"/>
                <a:ea typeface="Urbanist"/>
                <a:cs typeface="Urbanist"/>
                <a:sym typeface="Urbanist"/>
              </a:rPr>
              <a:t>Chatbot parses user city &amp; dates.</a:t>
            </a:r>
            <a:endParaRPr/>
          </a:p>
        </p:txBody>
      </p:sp>
      <p:sp>
        <p:nvSpPr>
          <p:cNvPr id="138" name="Google Shape;138;p17"/>
          <p:cNvSpPr txBox="1"/>
          <p:nvPr/>
        </p:nvSpPr>
        <p:spPr>
          <a:xfrm>
            <a:off x="3364706" y="3595687"/>
            <a:ext cx="2700337"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7C3AED"/>
                </a:solidFill>
                <a:latin typeface="Poppins SemiBold"/>
                <a:ea typeface="Poppins SemiBold"/>
                <a:cs typeface="Poppins SemiBold"/>
                <a:sym typeface="Poppins SemiBold"/>
              </a:rPr>
              <a:t>Fetch</a:t>
            </a:r>
            <a:endParaRPr/>
          </a:p>
        </p:txBody>
      </p:sp>
      <p:sp>
        <p:nvSpPr>
          <p:cNvPr id="139" name="Google Shape;139;p17"/>
          <p:cNvSpPr txBox="1"/>
          <p:nvPr/>
        </p:nvSpPr>
        <p:spPr>
          <a:xfrm>
            <a:off x="3429000" y="4186237"/>
            <a:ext cx="2571750" cy="571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94A3B8"/>
                </a:solidFill>
                <a:latin typeface="Urbanist"/>
                <a:ea typeface="Urbanist"/>
                <a:cs typeface="Urbanist"/>
                <a:sym typeface="Urbanist"/>
              </a:rPr>
              <a:t>Viator API retrieves live tour options.</a:t>
            </a:r>
            <a:endParaRPr/>
          </a:p>
        </p:txBody>
      </p:sp>
      <p:sp>
        <p:nvSpPr>
          <p:cNvPr id="140" name="Google Shape;140;p17"/>
          <p:cNvSpPr/>
          <p:nvPr/>
        </p:nvSpPr>
        <p:spPr>
          <a:xfrm>
            <a:off x="7362825" y="3081337"/>
            <a:ext cx="228600" cy="228600"/>
          </a:xfrm>
          <a:prstGeom prst="roundRect">
            <a:avLst>
              <a:gd fmla="val 50000" name="adj"/>
            </a:avLst>
          </a:prstGeom>
          <a:solidFill>
            <a:srgbClr val="7C3AED"/>
          </a:solidFill>
          <a:ln cap="flat" cmpd="sng" w="38100">
            <a:solidFill>
              <a:srgbClr val="0F111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17"/>
          <p:cNvSpPr txBox="1"/>
          <p:nvPr/>
        </p:nvSpPr>
        <p:spPr>
          <a:xfrm>
            <a:off x="6126956" y="3595687"/>
            <a:ext cx="2700337"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7C3AED"/>
                </a:solidFill>
                <a:latin typeface="Poppins SemiBold"/>
                <a:ea typeface="Poppins SemiBold"/>
                <a:cs typeface="Poppins SemiBold"/>
                <a:sym typeface="Poppins SemiBold"/>
              </a:rPr>
              <a:t>Analyze</a:t>
            </a:r>
            <a:endParaRPr/>
          </a:p>
        </p:txBody>
      </p:sp>
      <p:sp>
        <p:nvSpPr>
          <p:cNvPr id="142" name="Google Shape;142;p17"/>
          <p:cNvSpPr txBox="1"/>
          <p:nvPr/>
        </p:nvSpPr>
        <p:spPr>
          <a:xfrm>
            <a:off x="6191250" y="4186237"/>
            <a:ext cx="2571750" cy="571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94A3B8"/>
                </a:solidFill>
                <a:latin typeface="Urbanist"/>
                <a:ea typeface="Urbanist"/>
                <a:cs typeface="Urbanist"/>
                <a:sym typeface="Urbanist"/>
              </a:rPr>
              <a:t>Async sentiment scoring via Google Maps.</a:t>
            </a:r>
            <a:endParaRPr/>
          </a:p>
        </p:txBody>
      </p:sp>
      <p:sp>
        <p:nvSpPr>
          <p:cNvPr id="143" name="Google Shape;143;p17"/>
          <p:cNvSpPr txBox="1"/>
          <p:nvPr/>
        </p:nvSpPr>
        <p:spPr>
          <a:xfrm>
            <a:off x="8889206" y="3595687"/>
            <a:ext cx="2700300" cy="400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7C3AED"/>
                </a:solidFill>
                <a:latin typeface="Poppins SemiBold"/>
                <a:ea typeface="Poppins SemiBold"/>
                <a:cs typeface="Poppins SemiBold"/>
                <a:sym typeface="Poppins SemiBold"/>
              </a:rPr>
              <a:t>Output</a:t>
            </a:r>
            <a:endParaRPr/>
          </a:p>
        </p:txBody>
      </p:sp>
      <p:sp>
        <p:nvSpPr>
          <p:cNvPr id="144" name="Google Shape;144;p17"/>
          <p:cNvSpPr txBox="1"/>
          <p:nvPr/>
        </p:nvSpPr>
        <p:spPr>
          <a:xfrm>
            <a:off x="8953500" y="4186237"/>
            <a:ext cx="2571750" cy="571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94A3B8"/>
                </a:solidFill>
                <a:latin typeface="Urbanist"/>
                <a:ea typeface="Urbanist"/>
                <a:cs typeface="Urbanist"/>
                <a:sym typeface="Urbanist"/>
              </a:rPr>
              <a:t>Ranked recommendations sent to Frontend UI.</a:t>
            </a:r>
            <a:endParaRPr/>
          </a:p>
        </p:txBody>
      </p:sp>
      <p:sp>
        <p:nvSpPr>
          <p:cNvPr id="145" name="Google Shape;145;p17"/>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Technical Implementation</a:t>
            </a:r>
            <a:endParaRPr/>
          </a:p>
        </p:txBody>
      </p:sp>
      <p:sp>
        <p:nvSpPr>
          <p:cNvPr id="146" name="Google Shape;146;p17"/>
          <p:cNvSpPr/>
          <p:nvPr/>
        </p:nvSpPr>
        <p:spPr>
          <a:xfrm>
            <a:off x="571500" y="571500"/>
            <a:ext cx="57150" cy="600075"/>
          </a:xfrm>
          <a:prstGeom prst="rect">
            <a:avLst/>
          </a:prstGeom>
          <a:solidFill>
            <a:srgbClr val="7C3A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17"/>
          <p:cNvSpPr/>
          <p:nvPr/>
        </p:nvSpPr>
        <p:spPr>
          <a:xfrm>
            <a:off x="4514775" y="3081316"/>
            <a:ext cx="400200" cy="399900"/>
          </a:xfrm>
          <a:prstGeom prst="roundRect">
            <a:avLst>
              <a:gd fmla="val 50000" name="adj"/>
            </a:avLst>
          </a:prstGeom>
          <a:solidFill>
            <a:srgbClr val="7C3AED"/>
          </a:solidFill>
          <a:ln cap="flat" cmpd="sng" w="38100">
            <a:solidFill>
              <a:srgbClr val="0F111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2</a:t>
            </a:r>
            <a:endParaRPr b="1" i="0" sz="1800" u="none" cap="none" strike="noStrike">
              <a:solidFill>
                <a:schemeClr val="lt1"/>
              </a:solidFill>
              <a:latin typeface="Calibri"/>
              <a:ea typeface="Calibri"/>
              <a:cs typeface="Calibri"/>
              <a:sym typeface="Calibri"/>
            </a:endParaRPr>
          </a:p>
        </p:txBody>
      </p:sp>
      <p:sp>
        <p:nvSpPr>
          <p:cNvPr id="148" name="Google Shape;148;p17"/>
          <p:cNvSpPr/>
          <p:nvPr/>
        </p:nvSpPr>
        <p:spPr>
          <a:xfrm>
            <a:off x="7277025" y="3081316"/>
            <a:ext cx="400200" cy="399900"/>
          </a:xfrm>
          <a:prstGeom prst="roundRect">
            <a:avLst>
              <a:gd fmla="val 50000" name="adj"/>
            </a:avLst>
          </a:prstGeom>
          <a:solidFill>
            <a:srgbClr val="7C3AED"/>
          </a:solidFill>
          <a:ln cap="flat" cmpd="sng" w="38100">
            <a:solidFill>
              <a:srgbClr val="0F111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3</a:t>
            </a:r>
            <a:endParaRPr b="1" i="0" sz="1800" u="none" cap="none" strike="noStrike">
              <a:solidFill>
                <a:schemeClr val="lt1"/>
              </a:solidFill>
              <a:latin typeface="Calibri"/>
              <a:ea typeface="Calibri"/>
              <a:cs typeface="Calibri"/>
              <a:sym typeface="Calibri"/>
            </a:endParaRPr>
          </a:p>
        </p:txBody>
      </p:sp>
      <p:sp>
        <p:nvSpPr>
          <p:cNvPr id="149" name="Google Shape;149;p17"/>
          <p:cNvSpPr/>
          <p:nvPr/>
        </p:nvSpPr>
        <p:spPr>
          <a:xfrm>
            <a:off x="10039275" y="3081316"/>
            <a:ext cx="400200" cy="399900"/>
          </a:xfrm>
          <a:prstGeom prst="roundRect">
            <a:avLst>
              <a:gd fmla="val 50000" name="adj"/>
            </a:avLst>
          </a:prstGeom>
          <a:solidFill>
            <a:srgbClr val="7C3AED"/>
          </a:solidFill>
          <a:ln cap="flat" cmpd="sng" w="38100">
            <a:solidFill>
              <a:srgbClr val="0F111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4</a:t>
            </a:r>
            <a:endParaRPr b="1" i="0" sz="1800" u="none" cap="none" strike="noStrik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A"/>
        </a:solidFill>
      </p:bgPr>
    </p:bg>
    <p:spTree>
      <p:nvGrpSpPr>
        <p:cNvPr id="153" name="Shape 153"/>
        <p:cNvGrpSpPr/>
        <p:nvPr/>
      </p:nvGrpSpPr>
      <p:grpSpPr>
        <a:xfrm>
          <a:off x="0" y="0"/>
          <a:ext cx="0" cy="0"/>
          <a:chOff x="0" y="0"/>
          <a:chExt cx="0" cy="0"/>
        </a:xfrm>
      </p:grpSpPr>
      <p:pic>
        <p:nvPicPr>
          <p:cNvPr descr="image.png" id="154" name="Google Shape;154;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5" name="Google Shape;155;p18"/>
          <p:cNvPicPr preferRelativeResize="0"/>
          <p:nvPr/>
        </p:nvPicPr>
        <p:blipFill rotWithShape="1">
          <a:blip r:embed="rId4">
            <a:alphaModFix/>
          </a:blip>
          <a:srcRect b="0" l="0" r="0" t="0"/>
          <a:stretch/>
        </p:blipFill>
        <p:spPr>
          <a:xfrm>
            <a:off x="571500" y="2395537"/>
            <a:ext cx="3555950" cy="3048000"/>
          </a:xfrm>
          <a:prstGeom prst="rect">
            <a:avLst/>
          </a:prstGeom>
          <a:noFill/>
          <a:ln>
            <a:noFill/>
          </a:ln>
        </p:spPr>
      </p:pic>
      <p:pic>
        <p:nvPicPr>
          <p:cNvPr descr="image.png" id="156" name="Google Shape;156;p18"/>
          <p:cNvPicPr preferRelativeResize="0"/>
          <p:nvPr/>
        </p:nvPicPr>
        <p:blipFill rotWithShape="1">
          <a:blip r:embed="rId5">
            <a:alphaModFix/>
          </a:blip>
          <a:srcRect b="0" l="0" r="0" t="0"/>
          <a:stretch/>
        </p:blipFill>
        <p:spPr>
          <a:xfrm>
            <a:off x="4317950" y="2395537"/>
            <a:ext cx="3555950" cy="3048000"/>
          </a:xfrm>
          <a:prstGeom prst="rect">
            <a:avLst/>
          </a:prstGeom>
          <a:noFill/>
          <a:ln>
            <a:noFill/>
          </a:ln>
        </p:spPr>
      </p:pic>
      <p:pic>
        <p:nvPicPr>
          <p:cNvPr descr="image.png" id="157" name="Google Shape;157;p18"/>
          <p:cNvPicPr preferRelativeResize="0"/>
          <p:nvPr/>
        </p:nvPicPr>
        <p:blipFill rotWithShape="1">
          <a:blip r:embed="rId6">
            <a:alphaModFix/>
          </a:blip>
          <a:srcRect b="0" l="0" r="0" t="0"/>
          <a:stretch/>
        </p:blipFill>
        <p:spPr>
          <a:xfrm>
            <a:off x="8064400" y="2395537"/>
            <a:ext cx="3555950" cy="3048000"/>
          </a:xfrm>
          <a:prstGeom prst="rect">
            <a:avLst/>
          </a:prstGeom>
          <a:noFill/>
          <a:ln>
            <a:noFill/>
          </a:ln>
        </p:spPr>
      </p:pic>
      <p:pic>
        <p:nvPicPr>
          <p:cNvPr descr="image.png" id="158" name="Google Shape;158;p18"/>
          <p:cNvPicPr preferRelativeResize="0"/>
          <p:nvPr/>
        </p:nvPicPr>
        <p:blipFill rotWithShape="1">
          <a:blip r:embed="rId7">
            <a:alphaModFix/>
          </a:blip>
          <a:srcRect b="0" l="0" r="0" t="0"/>
          <a:stretch/>
        </p:blipFill>
        <p:spPr>
          <a:xfrm>
            <a:off x="866775" y="2690812"/>
            <a:ext cx="304800" cy="342900"/>
          </a:xfrm>
          <a:prstGeom prst="rect">
            <a:avLst/>
          </a:prstGeom>
          <a:noFill/>
          <a:ln>
            <a:noFill/>
          </a:ln>
        </p:spPr>
      </p:pic>
      <p:sp>
        <p:nvSpPr>
          <p:cNvPr id="159" name="Google Shape;159;p18"/>
          <p:cNvSpPr txBox="1"/>
          <p:nvPr/>
        </p:nvSpPr>
        <p:spPr>
          <a:xfrm>
            <a:off x="866775" y="3224212"/>
            <a:ext cx="311367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7C3AED"/>
                </a:solidFill>
                <a:latin typeface="Poppins SemiBold"/>
                <a:ea typeface="Poppins SemiBold"/>
                <a:cs typeface="Poppins SemiBold"/>
                <a:sym typeface="Poppins SemiBold"/>
              </a:rPr>
              <a:t>Async Evaluation</a:t>
            </a:r>
            <a:endParaRPr/>
          </a:p>
        </p:txBody>
      </p:sp>
      <p:sp>
        <p:nvSpPr>
          <p:cNvPr id="160" name="Google Shape;160;p18"/>
          <p:cNvSpPr txBox="1"/>
          <p:nvPr/>
        </p:nvSpPr>
        <p:spPr>
          <a:xfrm>
            <a:off x="866775" y="3814762"/>
            <a:ext cx="2965400" cy="1143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Urbanist"/>
                <a:ea typeface="Urbanist"/>
                <a:cs typeface="Urbanist"/>
                <a:sym typeface="Urbanist"/>
              </a:rPr>
              <a:t>Reviews for tour companies are analyzed asynchronously to maintain chatbot speed and responsiveness.</a:t>
            </a:r>
            <a:endParaRPr/>
          </a:p>
        </p:txBody>
      </p:sp>
      <p:pic>
        <p:nvPicPr>
          <p:cNvPr descr="image.png" id="161" name="Google Shape;161;p18"/>
          <p:cNvPicPr preferRelativeResize="0"/>
          <p:nvPr/>
        </p:nvPicPr>
        <p:blipFill rotWithShape="1">
          <a:blip r:embed="rId8">
            <a:alphaModFix/>
          </a:blip>
          <a:srcRect b="0" l="0" r="0" t="0"/>
          <a:stretch/>
        </p:blipFill>
        <p:spPr>
          <a:xfrm>
            <a:off x="4613225" y="2690812"/>
            <a:ext cx="390525" cy="342900"/>
          </a:xfrm>
          <a:prstGeom prst="rect">
            <a:avLst/>
          </a:prstGeom>
          <a:noFill/>
          <a:ln>
            <a:noFill/>
          </a:ln>
        </p:spPr>
      </p:pic>
      <p:sp>
        <p:nvSpPr>
          <p:cNvPr id="162" name="Google Shape;162;p18"/>
          <p:cNvSpPr txBox="1"/>
          <p:nvPr/>
        </p:nvSpPr>
        <p:spPr>
          <a:xfrm>
            <a:off x="4613225" y="3224212"/>
            <a:ext cx="311367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7C3AED"/>
                </a:solidFill>
                <a:latin typeface="Poppins SemiBold"/>
                <a:ea typeface="Poppins SemiBold"/>
                <a:cs typeface="Poppins SemiBold"/>
                <a:sym typeface="Poppins SemiBold"/>
              </a:rPr>
              <a:t>Value Metric</a:t>
            </a:r>
            <a:endParaRPr/>
          </a:p>
        </p:txBody>
      </p:sp>
      <p:sp>
        <p:nvSpPr>
          <p:cNvPr id="163" name="Google Shape;163;p18"/>
          <p:cNvSpPr txBox="1"/>
          <p:nvPr/>
        </p:nvSpPr>
        <p:spPr>
          <a:xfrm>
            <a:off x="4613225" y="3814762"/>
            <a:ext cx="296540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Urbanist"/>
                <a:ea typeface="Urbanist"/>
                <a:cs typeface="Urbanist"/>
                <a:sym typeface="Urbanist"/>
              </a:rPr>
              <a:t>Decides "Tourist Trap" status by weighing user review sentiment directly against tour pricing.</a:t>
            </a:r>
            <a:endParaRPr/>
          </a:p>
        </p:txBody>
      </p:sp>
      <p:pic>
        <p:nvPicPr>
          <p:cNvPr descr="image.png" id="164" name="Google Shape;164;p18"/>
          <p:cNvPicPr preferRelativeResize="0"/>
          <p:nvPr/>
        </p:nvPicPr>
        <p:blipFill rotWithShape="1">
          <a:blip r:embed="rId9">
            <a:alphaModFix/>
          </a:blip>
          <a:srcRect b="0" l="0" r="0" t="0"/>
          <a:stretch/>
        </p:blipFill>
        <p:spPr>
          <a:xfrm>
            <a:off x="8359675" y="2690812"/>
            <a:ext cx="304800" cy="342900"/>
          </a:xfrm>
          <a:prstGeom prst="rect">
            <a:avLst/>
          </a:prstGeom>
          <a:noFill/>
          <a:ln>
            <a:noFill/>
          </a:ln>
        </p:spPr>
      </p:pic>
      <p:sp>
        <p:nvSpPr>
          <p:cNvPr id="165" name="Google Shape;165;p18"/>
          <p:cNvSpPr txBox="1"/>
          <p:nvPr/>
        </p:nvSpPr>
        <p:spPr>
          <a:xfrm>
            <a:off x="8359675" y="3224212"/>
            <a:ext cx="311367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7C3AED"/>
                </a:solidFill>
                <a:latin typeface="Poppins SemiBold"/>
                <a:ea typeface="Poppins SemiBold"/>
                <a:cs typeface="Poppins SemiBold"/>
                <a:sym typeface="Poppins SemiBold"/>
              </a:rPr>
              <a:t>Smart Caching</a:t>
            </a:r>
            <a:endParaRPr/>
          </a:p>
        </p:txBody>
      </p:sp>
      <p:sp>
        <p:nvSpPr>
          <p:cNvPr id="166" name="Google Shape;166;p18"/>
          <p:cNvSpPr txBox="1"/>
          <p:nvPr/>
        </p:nvSpPr>
        <p:spPr>
          <a:xfrm>
            <a:off x="8359675" y="3814762"/>
            <a:ext cx="2965400" cy="8572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Urbanist"/>
                <a:ea typeface="Urbanist"/>
                <a:cs typeface="Urbanist"/>
                <a:sym typeface="Urbanist"/>
              </a:rPr>
              <a:t>Pulls from a local database for repeat searches to drastically reduce API token costs.</a:t>
            </a:r>
            <a:endParaRPr/>
          </a:p>
        </p:txBody>
      </p:sp>
      <p:sp>
        <p:nvSpPr>
          <p:cNvPr id="167" name="Google Shape;167;p18"/>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Core Platform Features</a:t>
            </a:r>
            <a:endParaRPr/>
          </a:p>
        </p:txBody>
      </p:sp>
      <p:sp>
        <p:nvSpPr>
          <p:cNvPr id="168" name="Google Shape;168;p18"/>
          <p:cNvSpPr/>
          <p:nvPr/>
        </p:nvSpPr>
        <p:spPr>
          <a:xfrm>
            <a:off x="571500" y="571500"/>
            <a:ext cx="57150" cy="600075"/>
          </a:xfrm>
          <a:prstGeom prst="rect">
            <a:avLst/>
          </a:prstGeom>
          <a:solidFill>
            <a:srgbClr val="7C3A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A"/>
        </a:solidFill>
      </p:bgPr>
    </p:bg>
    <p:spTree>
      <p:nvGrpSpPr>
        <p:cNvPr id="172" name="Shape 172"/>
        <p:cNvGrpSpPr/>
        <p:nvPr/>
      </p:nvGrpSpPr>
      <p:grpSpPr>
        <a:xfrm>
          <a:off x="0" y="0"/>
          <a:ext cx="0" cy="0"/>
          <a:chOff x="0" y="0"/>
          <a:chExt cx="0" cy="0"/>
        </a:xfrm>
      </p:grpSpPr>
      <p:pic>
        <p:nvPicPr>
          <p:cNvPr descr="image.png" id="173" name="Google Shape;173;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4" name="Google Shape;174;p19"/>
          <p:cNvPicPr preferRelativeResize="0"/>
          <p:nvPr/>
        </p:nvPicPr>
        <p:blipFill rotWithShape="1">
          <a:blip r:embed="rId4">
            <a:alphaModFix/>
          </a:blip>
          <a:srcRect b="0" l="0" r="0" t="0"/>
          <a:stretch/>
        </p:blipFill>
        <p:spPr>
          <a:xfrm>
            <a:off x="571500" y="2014537"/>
            <a:ext cx="5286375" cy="3810000"/>
          </a:xfrm>
          <a:prstGeom prst="rect">
            <a:avLst/>
          </a:prstGeom>
          <a:noFill/>
          <a:ln>
            <a:noFill/>
          </a:ln>
        </p:spPr>
      </p:pic>
      <p:pic>
        <p:nvPicPr>
          <p:cNvPr descr="image.png" id="175" name="Google Shape;175;p19"/>
          <p:cNvPicPr preferRelativeResize="0"/>
          <p:nvPr/>
        </p:nvPicPr>
        <p:blipFill rotWithShape="1">
          <a:blip r:embed="rId5">
            <a:alphaModFix/>
          </a:blip>
          <a:srcRect b="0" l="0" r="0" t="0"/>
          <a:stretch/>
        </p:blipFill>
        <p:spPr>
          <a:xfrm>
            <a:off x="581025" y="2024062"/>
            <a:ext cx="5267325" cy="3790950"/>
          </a:xfrm>
          <a:prstGeom prst="rect">
            <a:avLst/>
          </a:prstGeom>
          <a:noFill/>
          <a:ln>
            <a:noFill/>
          </a:ln>
        </p:spPr>
      </p:pic>
      <p:sp>
        <p:nvSpPr>
          <p:cNvPr id="176" name="Google Shape;176;p19"/>
          <p:cNvSpPr txBox="1"/>
          <p:nvPr/>
        </p:nvSpPr>
        <p:spPr>
          <a:xfrm>
            <a:off x="6715125" y="2433637"/>
            <a:ext cx="490537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94A3B8"/>
                </a:solidFill>
                <a:latin typeface="Urbanist"/>
                <a:ea typeface="Urbanist"/>
                <a:cs typeface="Urbanist"/>
                <a:sym typeface="Urbanist"/>
              </a:rPr>
              <a:t>Viator API Complexity:</a:t>
            </a:r>
            <a:r>
              <a:rPr b="0" i="0" lang="en-US" sz="1500" u="none" cap="none" strike="noStrike">
                <a:solidFill>
                  <a:srgbClr val="94A3B8"/>
                </a:solidFill>
                <a:latin typeface="Urbanist"/>
                <a:ea typeface="Urbanist"/>
                <a:cs typeface="Urbanist"/>
                <a:sym typeface="Urbanist"/>
              </a:rPr>
              <a:t> Navigating inconsistent returned values and scheduling feebleness.</a:t>
            </a:r>
            <a:endParaRPr/>
          </a:p>
        </p:txBody>
      </p:sp>
      <p:sp>
        <p:nvSpPr>
          <p:cNvPr id="177" name="Google Shape;177;p19"/>
          <p:cNvSpPr txBox="1"/>
          <p:nvPr/>
        </p:nvSpPr>
        <p:spPr>
          <a:xfrm>
            <a:off x="6715125" y="3176587"/>
            <a:ext cx="490537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94A3B8"/>
                </a:solidFill>
                <a:latin typeface="Urbanist"/>
                <a:ea typeface="Urbanist"/>
                <a:cs typeface="Urbanist"/>
                <a:sym typeface="Urbanist"/>
              </a:rPr>
              <a:t>Sentiment Variance:</a:t>
            </a:r>
            <a:r>
              <a:rPr b="0" i="0" lang="en-US" sz="1500" u="none" cap="none" strike="noStrike">
                <a:solidFill>
                  <a:srgbClr val="94A3B8"/>
                </a:solidFill>
                <a:latin typeface="Urbanist"/>
                <a:ea typeface="Urbanist"/>
                <a:cs typeface="Urbanist"/>
                <a:sym typeface="Urbanist"/>
              </a:rPr>
              <a:t> Normalizing scores across different LLM prompts and models.</a:t>
            </a:r>
            <a:endParaRPr/>
          </a:p>
        </p:txBody>
      </p:sp>
      <p:sp>
        <p:nvSpPr>
          <p:cNvPr id="178" name="Google Shape;178;p19"/>
          <p:cNvSpPr txBox="1"/>
          <p:nvPr/>
        </p:nvSpPr>
        <p:spPr>
          <a:xfrm>
            <a:off x="6715125" y="3919537"/>
            <a:ext cx="490537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94A3B8"/>
                </a:solidFill>
                <a:latin typeface="Urbanist"/>
                <a:ea typeface="Urbanist"/>
                <a:cs typeface="Urbanist"/>
                <a:sym typeface="Urbanist"/>
              </a:rPr>
              <a:t>Token Efficiency:</a:t>
            </a:r>
            <a:r>
              <a:rPr b="0" i="0" lang="en-US" sz="1500" u="none" cap="none" strike="noStrike">
                <a:solidFill>
                  <a:srgbClr val="94A3B8"/>
                </a:solidFill>
                <a:latin typeface="Urbanist"/>
                <a:ea typeface="Urbanist"/>
                <a:cs typeface="Urbanist"/>
                <a:sym typeface="Urbanist"/>
              </a:rPr>
              <a:t> Managing expensive LLM calls without sacrificing deep review analysis.</a:t>
            </a:r>
            <a:endParaRPr/>
          </a:p>
        </p:txBody>
      </p:sp>
      <p:sp>
        <p:nvSpPr>
          <p:cNvPr id="179" name="Google Shape;179;p19"/>
          <p:cNvSpPr txBox="1"/>
          <p:nvPr/>
        </p:nvSpPr>
        <p:spPr>
          <a:xfrm>
            <a:off x="6715125" y="4662487"/>
            <a:ext cx="4905375"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94A3B8"/>
                </a:solidFill>
                <a:latin typeface="Urbanist"/>
                <a:ea typeface="Urbanist"/>
                <a:cs typeface="Urbanist"/>
                <a:sym typeface="Urbanist"/>
              </a:rPr>
              <a:t>Data Accuracy:</a:t>
            </a:r>
            <a:r>
              <a:rPr b="0" i="0" lang="en-US" sz="1500" u="none" cap="none" strike="noStrike">
                <a:solidFill>
                  <a:srgbClr val="94A3B8"/>
                </a:solidFill>
                <a:latin typeface="Urbanist"/>
                <a:ea typeface="Urbanist"/>
                <a:cs typeface="Urbanist"/>
                <a:sym typeface="Urbanist"/>
              </a:rPr>
              <a:t> Cross-referencing Google Maps and Viator identities reliably.</a:t>
            </a:r>
            <a:endParaRPr/>
          </a:p>
        </p:txBody>
      </p:sp>
      <p:sp>
        <p:nvSpPr>
          <p:cNvPr id="180" name="Google Shape;180;p19"/>
          <p:cNvSpPr txBox="1"/>
          <p:nvPr/>
        </p:nvSpPr>
        <p:spPr>
          <a:xfrm>
            <a:off x="6334125" y="2433637"/>
            <a:ext cx="1905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7C3AED"/>
                </a:solidFill>
                <a:latin typeface="Urbanist"/>
                <a:ea typeface="Urbanist"/>
                <a:cs typeface="Urbanist"/>
                <a:sym typeface="Urbanist"/>
              </a:rPr>
              <a:t>→</a:t>
            </a:r>
            <a:endParaRPr/>
          </a:p>
        </p:txBody>
      </p:sp>
      <p:sp>
        <p:nvSpPr>
          <p:cNvPr id="181" name="Google Shape;181;p19"/>
          <p:cNvSpPr txBox="1"/>
          <p:nvPr/>
        </p:nvSpPr>
        <p:spPr>
          <a:xfrm>
            <a:off x="6334125" y="3176587"/>
            <a:ext cx="1905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7C3AED"/>
                </a:solidFill>
                <a:latin typeface="Urbanist"/>
                <a:ea typeface="Urbanist"/>
                <a:cs typeface="Urbanist"/>
                <a:sym typeface="Urbanist"/>
              </a:rPr>
              <a:t>→</a:t>
            </a:r>
            <a:endParaRPr/>
          </a:p>
        </p:txBody>
      </p:sp>
      <p:sp>
        <p:nvSpPr>
          <p:cNvPr id="182" name="Google Shape;182;p19"/>
          <p:cNvSpPr txBox="1"/>
          <p:nvPr/>
        </p:nvSpPr>
        <p:spPr>
          <a:xfrm>
            <a:off x="6334125" y="3919537"/>
            <a:ext cx="1905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7C3AED"/>
                </a:solidFill>
                <a:latin typeface="Urbanist"/>
                <a:ea typeface="Urbanist"/>
                <a:cs typeface="Urbanist"/>
                <a:sym typeface="Urbanist"/>
              </a:rPr>
              <a:t>→</a:t>
            </a:r>
            <a:endParaRPr/>
          </a:p>
        </p:txBody>
      </p:sp>
      <p:sp>
        <p:nvSpPr>
          <p:cNvPr id="183" name="Google Shape;183;p19"/>
          <p:cNvSpPr txBox="1"/>
          <p:nvPr/>
        </p:nvSpPr>
        <p:spPr>
          <a:xfrm>
            <a:off x="6334125" y="4662487"/>
            <a:ext cx="1905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7C3AED"/>
                </a:solidFill>
                <a:latin typeface="Urbanist"/>
                <a:ea typeface="Urbanist"/>
                <a:cs typeface="Urbanist"/>
                <a:sym typeface="Urbanist"/>
              </a:rPr>
              <a:t>→</a:t>
            </a:r>
            <a:endParaRPr/>
          </a:p>
        </p:txBody>
      </p:sp>
      <p:sp>
        <p:nvSpPr>
          <p:cNvPr id="184" name="Google Shape;184;p19"/>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Implementation Roadblocks</a:t>
            </a:r>
            <a:endParaRPr/>
          </a:p>
        </p:txBody>
      </p:sp>
      <p:sp>
        <p:nvSpPr>
          <p:cNvPr id="185" name="Google Shape;185;p19"/>
          <p:cNvSpPr/>
          <p:nvPr/>
        </p:nvSpPr>
        <p:spPr>
          <a:xfrm>
            <a:off x="571500" y="571500"/>
            <a:ext cx="57150" cy="600075"/>
          </a:xfrm>
          <a:prstGeom prst="rect">
            <a:avLst/>
          </a:prstGeom>
          <a:solidFill>
            <a:srgbClr val="7C3A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A"/>
        </a:solidFill>
      </p:bgPr>
    </p:bg>
    <p:spTree>
      <p:nvGrpSpPr>
        <p:cNvPr id="189" name="Shape 189"/>
        <p:cNvGrpSpPr/>
        <p:nvPr/>
      </p:nvGrpSpPr>
      <p:grpSpPr>
        <a:xfrm>
          <a:off x="0" y="0"/>
          <a:ext cx="0" cy="0"/>
          <a:chOff x="0" y="0"/>
          <a:chExt cx="0" cy="0"/>
        </a:xfrm>
      </p:grpSpPr>
      <p:pic>
        <p:nvPicPr>
          <p:cNvPr descr="image.png" id="190" name="Google Shape;190;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1" name="Google Shape;191;p20"/>
          <p:cNvSpPr txBox="1"/>
          <p:nvPr/>
        </p:nvSpPr>
        <p:spPr>
          <a:xfrm>
            <a:off x="2286000" y="4381500"/>
            <a:ext cx="7620000" cy="5715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94A3B8"/>
                </a:solidFill>
                <a:latin typeface="Urbanist"/>
                <a:ea typeface="Urbanist"/>
                <a:cs typeface="Urbanist"/>
                <a:sym typeface="Urbanist"/>
              </a:rPr>
              <a:t>The implementation of a database-first approach ensured that recurring queries were delivered instantly, preserving both user experience and computational resources.</a:t>
            </a:r>
            <a:endParaRPr/>
          </a:p>
        </p:txBody>
      </p:sp>
      <p:sp>
        <p:nvSpPr>
          <p:cNvPr id="192" name="Google Shape;192;p20"/>
          <p:cNvSpPr txBox="1"/>
          <p:nvPr/>
        </p:nvSpPr>
        <p:spPr>
          <a:xfrm>
            <a:off x="571500" y="2668252"/>
            <a:ext cx="3492300" cy="1154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7500" u="none" cap="none" strike="noStrike">
                <a:solidFill>
                  <a:srgbClr val="7C3AED"/>
                </a:solidFill>
                <a:latin typeface="Urbanist"/>
                <a:ea typeface="Urbanist"/>
                <a:cs typeface="Urbanist"/>
                <a:sym typeface="Urbanist"/>
              </a:rPr>
              <a:t>~30%</a:t>
            </a:r>
            <a:endParaRPr/>
          </a:p>
        </p:txBody>
      </p:sp>
      <p:sp>
        <p:nvSpPr>
          <p:cNvPr id="193" name="Google Shape;193;p20"/>
          <p:cNvSpPr txBox="1"/>
          <p:nvPr/>
        </p:nvSpPr>
        <p:spPr>
          <a:xfrm>
            <a:off x="571500" y="3743325"/>
            <a:ext cx="3492400" cy="2571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94A3B8"/>
                </a:solidFill>
                <a:latin typeface="Urbanist Medium"/>
                <a:ea typeface="Urbanist Medium"/>
                <a:cs typeface="Urbanist Medium"/>
                <a:sym typeface="Urbanist Medium"/>
              </a:rPr>
              <a:t>Token Cost Savings</a:t>
            </a:r>
            <a:endParaRPr/>
          </a:p>
        </p:txBody>
      </p:sp>
      <p:sp>
        <p:nvSpPr>
          <p:cNvPr id="194" name="Google Shape;194;p20"/>
          <p:cNvSpPr txBox="1"/>
          <p:nvPr/>
        </p:nvSpPr>
        <p:spPr>
          <a:xfrm>
            <a:off x="4349650" y="2640930"/>
            <a:ext cx="3492600" cy="1154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7500" u="none" cap="none" strike="noStrike">
                <a:solidFill>
                  <a:srgbClr val="7C3AED"/>
                </a:solidFill>
                <a:latin typeface="Urbanist"/>
                <a:ea typeface="Urbanist"/>
                <a:cs typeface="Urbanist"/>
                <a:sym typeface="Urbanist"/>
              </a:rPr>
              <a:t>Async</a:t>
            </a:r>
            <a:endParaRPr/>
          </a:p>
        </p:txBody>
      </p:sp>
      <p:sp>
        <p:nvSpPr>
          <p:cNvPr id="195" name="Google Shape;195;p20"/>
          <p:cNvSpPr txBox="1"/>
          <p:nvPr/>
        </p:nvSpPr>
        <p:spPr>
          <a:xfrm>
            <a:off x="4349650" y="3743325"/>
            <a:ext cx="3492549" cy="2571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94A3B8"/>
                </a:solidFill>
                <a:latin typeface="Urbanist Medium"/>
                <a:ea typeface="Urbanist Medium"/>
                <a:cs typeface="Urbanist Medium"/>
                <a:sym typeface="Urbanist Medium"/>
              </a:rPr>
              <a:t>Processing Logic</a:t>
            </a:r>
            <a:endParaRPr/>
          </a:p>
        </p:txBody>
      </p:sp>
      <p:sp>
        <p:nvSpPr>
          <p:cNvPr id="196" name="Google Shape;196;p20"/>
          <p:cNvSpPr txBox="1"/>
          <p:nvPr/>
        </p:nvSpPr>
        <p:spPr>
          <a:xfrm>
            <a:off x="8127950" y="2668252"/>
            <a:ext cx="3492300" cy="1154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7500" u="none" cap="none" strike="noStrike">
                <a:solidFill>
                  <a:srgbClr val="7C3AED"/>
                </a:solidFill>
                <a:latin typeface="Urbanist"/>
                <a:ea typeface="Urbanist"/>
                <a:cs typeface="Urbanist"/>
                <a:sym typeface="Urbanist"/>
              </a:rPr>
              <a:t>Sub-</a:t>
            </a:r>
            <a:r>
              <a:rPr b="1" lang="en-US" sz="7500">
                <a:solidFill>
                  <a:srgbClr val="7C3AED"/>
                </a:solidFill>
                <a:latin typeface="Urbanist"/>
                <a:ea typeface="Urbanist"/>
                <a:cs typeface="Urbanist"/>
                <a:sym typeface="Urbanist"/>
              </a:rPr>
              <a:t>15</a:t>
            </a:r>
            <a:r>
              <a:rPr b="1" i="0" lang="en-US" sz="7500" u="none" cap="none" strike="noStrike">
                <a:solidFill>
                  <a:srgbClr val="7C3AED"/>
                </a:solidFill>
                <a:latin typeface="Urbanist"/>
                <a:ea typeface="Urbanist"/>
                <a:cs typeface="Urbanist"/>
                <a:sym typeface="Urbanist"/>
              </a:rPr>
              <a:t>s</a:t>
            </a:r>
            <a:endParaRPr/>
          </a:p>
        </p:txBody>
      </p:sp>
      <p:sp>
        <p:nvSpPr>
          <p:cNvPr id="197" name="Google Shape;197;p20"/>
          <p:cNvSpPr txBox="1"/>
          <p:nvPr/>
        </p:nvSpPr>
        <p:spPr>
          <a:xfrm>
            <a:off x="8127950" y="3743325"/>
            <a:ext cx="3492400" cy="2571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94A3B8"/>
                </a:solidFill>
                <a:latin typeface="Urbanist Medium"/>
                <a:ea typeface="Urbanist Medium"/>
                <a:cs typeface="Urbanist Medium"/>
                <a:sym typeface="Urbanist Medium"/>
              </a:rPr>
              <a:t>Avg Response Time</a:t>
            </a:r>
            <a:endParaRPr/>
          </a:p>
        </p:txBody>
      </p:sp>
      <p:sp>
        <p:nvSpPr>
          <p:cNvPr id="198" name="Google Shape;198;p20"/>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Performance Optimization</a:t>
            </a:r>
            <a:endParaRPr/>
          </a:p>
        </p:txBody>
      </p:sp>
      <p:sp>
        <p:nvSpPr>
          <p:cNvPr id="199" name="Google Shape;199;p20"/>
          <p:cNvSpPr/>
          <p:nvPr/>
        </p:nvSpPr>
        <p:spPr>
          <a:xfrm>
            <a:off x="571500" y="571500"/>
            <a:ext cx="57150" cy="600075"/>
          </a:xfrm>
          <a:prstGeom prst="rect">
            <a:avLst/>
          </a:prstGeom>
          <a:solidFill>
            <a:srgbClr val="7C3A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A"/>
        </a:solidFill>
      </p:bgPr>
    </p:bg>
    <p:spTree>
      <p:nvGrpSpPr>
        <p:cNvPr id="203" name="Shape 203"/>
        <p:cNvGrpSpPr/>
        <p:nvPr/>
      </p:nvGrpSpPr>
      <p:grpSpPr>
        <a:xfrm>
          <a:off x="0" y="0"/>
          <a:ext cx="0" cy="0"/>
          <a:chOff x="0" y="0"/>
          <a:chExt cx="0" cy="0"/>
        </a:xfrm>
      </p:grpSpPr>
      <p:pic>
        <p:nvPicPr>
          <p:cNvPr descr="image.png" id="204" name="Google Shape;204;p21"/>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205" name="Google Shape;205;p21"/>
          <p:cNvGraphicFramePr/>
          <p:nvPr/>
        </p:nvGraphicFramePr>
        <p:xfrm>
          <a:off x="571500" y="2562225"/>
          <a:ext cx="3000000" cy="3000000"/>
        </p:xfrm>
        <a:graphic>
          <a:graphicData uri="http://schemas.openxmlformats.org/drawingml/2006/table">
            <a:tbl>
              <a:tblPr bandRow="1" firstRow="1">
                <a:noFill/>
                <a:tableStyleId>{307E6D0F-0215-483C-9126-245023136113}</a:tableStyleId>
              </a:tblPr>
              <a:tblGrid>
                <a:gridCol w="2786050"/>
                <a:gridCol w="2754225"/>
                <a:gridCol w="3168100"/>
                <a:gridCol w="2340625"/>
              </a:tblGrid>
              <a:tr h="678650">
                <a:tc>
                  <a:txBody>
                    <a:bodyPr/>
                    <a:lstStyle/>
                    <a:p>
                      <a:pPr indent="0" lvl="0" marL="0" marR="0" rtl="0" algn="ctr">
                        <a:spcBef>
                          <a:spcPts val="0"/>
                        </a:spcBef>
                        <a:spcAft>
                          <a:spcPts val="0"/>
                        </a:spcAft>
                        <a:buNone/>
                      </a:pPr>
                      <a:r>
                        <a:rPr b="1" i="0" lang="en-US" sz="1650" u="none" cap="none" strike="noStrike">
                          <a:latin typeface="Urbanist"/>
                          <a:ea typeface="Urbanist"/>
                          <a:cs typeface="Urbanist"/>
                          <a:sym typeface="Urbanist"/>
                        </a:rPr>
                        <a:t>Platform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7C3AED"/>
                    </a:solidFill>
                  </a:tcPr>
                </a:tc>
                <a:tc>
                  <a:txBody>
                    <a:bodyPr/>
                    <a:lstStyle/>
                    <a:p>
                      <a:pPr indent="0" lvl="0" marL="0" marR="0" rtl="0" algn="ctr">
                        <a:spcBef>
                          <a:spcPts val="0"/>
                        </a:spcBef>
                        <a:spcAft>
                          <a:spcPts val="0"/>
                        </a:spcAft>
                        <a:buNone/>
                      </a:pPr>
                      <a:r>
                        <a:rPr b="1" i="0" lang="en-US" sz="1650" u="none" cap="none" strike="noStrike">
                          <a:latin typeface="Urbanist"/>
                          <a:ea typeface="Urbanist"/>
                          <a:cs typeface="Urbanist"/>
                          <a:sym typeface="Urbanist"/>
                        </a:rPr>
                        <a:t>Pricing Focus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7C3AED"/>
                    </a:solidFill>
                  </a:tcPr>
                </a:tc>
                <a:tc>
                  <a:txBody>
                    <a:bodyPr/>
                    <a:lstStyle/>
                    <a:p>
                      <a:pPr indent="0" lvl="0" marL="0" marR="0" rtl="0" algn="ctr">
                        <a:spcBef>
                          <a:spcPts val="0"/>
                        </a:spcBef>
                        <a:spcAft>
                          <a:spcPts val="0"/>
                        </a:spcAft>
                        <a:buNone/>
                      </a:pPr>
                      <a:r>
                        <a:rPr b="1" i="0" lang="en-US" sz="1650" u="none" cap="none" strike="noStrike">
                          <a:latin typeface="Urbanist"/>
                          <a:ea typeface="Urbanist"/>
                          <a:cs typeface="Urbanist"/>
                          <a:sym typeface="Urbanist"/>
                        </a:rPr>
                        <a:t>Sentiment Depth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7C3AED"/>
                    </a:solidFill>
                  </a:tcPr>
                </a:tc>
                <a:tc>
                  <a:txBody>
                    <a:bodyPr/>
                    <a:lstStyle/>
                    <a:p>
                      <a:pPr indent="0" lvl="0" marL="0" marR="0" rtl="0" algn="ctr">
                        <a:spcBef>
                          <a:spcPts val="0"/>
                        </a:spcBef>
                        <a:spcAft>
                          <a:spcPts val="0"/>
                        </a:spcAft>
                        <a:buNone/>
                      </a:pPr>
                      <a:r>
                        <a:rPr b="1" i="0" lang="en-US" sz="1650" u="none" cap="none" strike="noStrike">
                          <a:latin typeface="Urbanist"/>
                          <a:ea typeface="Urbanist"/>
                          <a:cs typeface="Urbanist"/>
                          <a:sym typeface="Urbanist"/>
                        </a:rPr>
                        <a:t>Value Score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7C3AED"/>
                    </a:solidFill>
                  </a:tcPr>
                </a:tc>
              </a:tr>
              <a:tr h="678650">
                <a:tc>
                  <a:txBody>
                    <a:bodyPr/>
                    <a:lstStyle/>
                    <a:p>
                      <a:pPr indent="0" lvl="0" marL="0" marR="0" rtl="0" algn="ctr">
                        <a:spcBef>
                          <a:spcPts val="0"/>
                        </a:spcBef>
                        <a:spcAft>
                          <a:spcPts val="0"/>
                        </a:spcAft>
                        <a:buNone/>
                      </a:pPr>
                      <a:r>
                        <a:rPr b="0" i="0" lang="en-US" sz="1300" u="none" cap="none" strike="noStrike">
                          <a:solidFill>
                            <a:srgbClr val="F8FAFC"/>
                          </a:solidFill>
                          <a:latin typeface="Urbanist SemiBold"/>
                          <a:ea typeface="Urbanist SemiBold"/>
                          <a:cs typeface="Urbanist SemiBold"/>
                          <a:sym typeface="Urbanist SemiBold"/>
                        </a:rPr>
                        <a:t>Layla AI / Mindtrip</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1E26"/>
                    </a:solidFill>
                  </a:tcPr>
                </a:tc>
                <a:tc>
                  <a:txBody>
                    <a:bodyPr/>
                    <a:lstStyle/>
                    <a:p>
                      <a:pPr indent="0" lvl="0" marL="0" marR="0" rtl="0" algn="ctr">
                        <a:spcBef>
                          <a:spcPts val="0"/>
                        </a:spcBef>
                        <a:spcAft>
                          <a:spcPts val="0"/>
                        </a:spcAft>
                        <a:buNone/>
                      </a:pPr>
                      <a:r>
                        <a:rPr lang="en-US" sz="1300">
                          <a:solidFill>
                            <a:srgbClr val="F8FAFC"/>
                          </a:solidFill>
                          <a:latin typeface="Urbanist"/>
                          <a:ea typeface="Urbanist"/>
                          <a:cs typeface="Urbanist"/>
                          <a:sym typeface="Urbanist"/>
                        </a:rPr>
                        <a:t>Unclear</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1E26"/>
                    </a:solidFill>
                  </a:tcPr>
                </a:tc>
                <a:tc>
                  <a:txBody>
                    <a:bodyPr/>
                    <a:lstStyle/>
                    <a:p>
                      <a:pPr indent="0" lvl="0" marL="0" marR="0" rtl="0" algn="ctr">
                        <a:spcBef>
                          <a:spcPts val="0"/>
                        </a:spcBef>
                        <a:spcAft>
                          <a:spcPts val="0"/>
                        </a:spcAft>
                        <a:buNone/>
                      </a:pPr>
                      <a:r>
                        <a:rPr b="0" i="0" lang="en-US" sz="1300" u="none" cap="none" strike="noStrike">
                          <a:solidFill>
                            <a:srgbClr val="F8FAFC"/>
                          </a:solidFill>
                          <a:latin typeface="Urbanist"/>
                          <a:ea typeface="Urbanist"/>
                          <a:cs typeface="Urbanist"/>
                          <a:sym typeface="Urbanist"/>
                        </a:rPr>
                        <a:t>General</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1E26"/>
                    </a:solidFill>
                  </a:tcPr>
                </a:tc>
                <a:tc>
                  <a:txBody>
                    <a:bodyPr/>
                    <a:lstStyle/>
                    <a:p>
                      <a:pPr indent="0" lvl="0" marL="0" marR="0" rtl="0" algn="l">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25400" marB="25400" marR="63500" marL="2667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1E26"/>
                    </a:solidFill>
                  </a:tcPr>
                </a:tc>
              </a:tr>
              <a:tr h="678650">
                <a:tc>
                  <a:txBody>
                    <a:bodyPr/>
                    <a:lstStyle/>
                    <a:p>
                      <a:pPr indent="0" lvl="0" marL="0" marR="0" rtl="0" algn="ctr">
                        <a:spcBef>
                          <a:spcPts val="0"/>
                        </a:spcBef>
                        <a:spcAft>
                          <a:spcPts val="0"/>
                        </a:spcAft>
                        <a:buNone/>
                      </a:pPr>
                      <a:r>
                        <a:rPr b="0" i="0" lang="en-US" sz="1300" u="none" cap="none" strike="noStrike">
                          <a:solidFill>
                            <a:srgbClr val="F8FAFC"/>
                          </a:solidFill>
                          <a:latin typeface="Urbanist SemiBold"/>
                          <a:ea typeface="Urbanist SemiBold"/>
                          <a:cs typeface="Urbanist SemiBold"/>
                          <a:sym typeface="Urbanist SemiBold"/>
                        </a:rPr>
                        <a:t>EasyTripAI</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1E26"/>
                    </a:solidFill>
                  </a:tcPr>
                </a:tc>
                <a:tc>
                  <a:txBody>
                    <a:bodyPr/>
                    <a:lstStyle/>
                    <a:p>
                      <a:pPr indent="0" lvl="0" marL="0" marR="0" rtl="0" algn="ctr">
                        <a:spcBef>
                          <a:spcPts val="0"/>
                        </a:spcBef>
                        <a:spcAft>
                          <a:spcPts val="0"/>
                        </a:spcAft>
                        <a:buNone/>
                      </a:pPr>
                      <a:r>
                        <a:rPr lang="en-US" sz="1300">
                          <a:solidFill>
                            <a:srgbClr val="F8FAFC"/>
                          </a:solidFill>
                          <a:latin typeface="Urbanist"/>
                          <a:ea typeface="Urbanist"/>
                          <a:cs typeface="Urbanist"/>
                          <a:sym typeface="Urbanist"/>
                        </a:rPr>
                        <a:t>Subscription</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1E26"/>
                    </a:solidFill>
                  </a:tcPr>
                </a:tc>
                <a:tc>
                  <a:txBody>
                    <a:bodyPr/>
                    <a:lstStyle/>
                    <a:p>
                      <a:pPr indent="0" lvl="0" marL="0" marR="0" rtl="0" algn="ctr">
                        <a:spcBef>
                          <a:spcPts val="0"/>
                        </a:spcBef>
                        <a:spcAft>
                          <a:spcPts val="0"/>
                        </a:spcAft>
                        <a:buNone/>
                      </a:pPr>
                      <a:r>
                        <a:rPr b="0" i="0" lang="en-US" sz="1300" u="none" cap="none" strike="noStrike">
                          <a:solidFill>
                            <a:srgbClr val="F8FAFC"/>
                          </a:solidFill>
                          <a:latin typeface="Urbanist"/>
                          <a:ea typeface="Urbanist"/>
                          <a:cs typeface="Urbanist"/>
                          <a:sym typeface="Urbanist"/>
                        </a:rPr>
                        <a:t>Scam Detection</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1E26"/>
                    </a:solidFill>
                  </a:tcPr>
                </a:tc>
                <a:tc>
                  <a:txBody>
                    <a:bodyPr/>
                    <a:lstStyle/>
                    <a:p>
                      <a:pPr indent="0" lvl="0" marL="0" marR="0" rtl="0" algn="l">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25400" marB="25400" marR="63500" marL="2667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1E26"/>
                    </a:solidFill>
                  </a:tcPr>
                </a:tc>
              </a:tr>
              <a:tr h="678650">
                <a:tc>
                  <a:txBody>
                    <a:bodyPr/>
                    <a:lstStyle/>
                    <a:p>
                      <a:pPr indent="0" lvl="0" marL="0" marR="0" rtl="0" algn="ctr">
                        <a:spcBef>
                          <a:spcPts val="0"/>
                        </a:spcBef>
                        <a:spcAft>
                          <a:spcPts val="0"/>
                        </a:spcAft>
                        <a:buNone/>
                      </a:pPr>
                      <a:r>
                        <a:rPr b="1" i="0" lang="en-US" sz="1300" u="none" cap="none" strike="noStrike">
                          <a:solidFill>
                            <a:srgbClr val="F8FAFC"/>
                          </a:solidFill>
                          <a:latin typeface="Urbanist"/>
                          <a:ea typeface="Urbanist"/>
                          <a:cs typeface="Urbanist"/>
                          <a:sym typeface="Urbanist"/>
                        </a:rPr>
                        <a:t>TourGPT</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1E26"/>
                    </a:solidFill>
                  </a:tcPr>
                </a:tc>
                <a:tc>
                  <a:txBody>
                    <a:bodyPr/>
                    <a:lstStyle/>
                    <a:p>
                      <a:pPr indent="0" lvl="0" marL="0" marR="0" rtl="0" algn="ctr">
                        <a:spcBef>
                          <a:spcPts val="0"/>
                        </a:spcBef>
                        <a:spcAft>
                          <a:spcPts val="0"/>
                        </a:spcAft>
                        <a:buNone/>
                      </a:pPr>
                      <a:r>
                        <a:rPr b="1" lang="en-US" sz="1300">
                          <a:solidFill>
                            <a:srgbClr val="F8FAFC"/>
                          </a:solidFill>
                          <a:latin typeface="Urbanist"/>
                          <a:ea typeface="Urbanist"/>
                          <a:cs typeface="Urbanist"/>
                          <a:sym typeface="Urbanist"/>
                        </a:rPr>
                        <a:t>FREE</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1E26"/>
                    </a:solidFill>
                  </a:tcPr>
                </a:tc>
                <a:tc>
                  <a:txBody>
                    <a:bodyPr/>
                    <a:lstStyle/>
                    <a:p>
                      <a:pPr indent="0" lvl="0" marL="0" marR="0" rtl="0" algn="ctr">
                        <a:spcBef>
                          <a:spcPts val="0"/>
                        </a:spcBef>
                        <a:spcAft>
                          <a:spcPts val="0"/>
                        </a:spcAft>
                        <a:buNone/>
                      </a:pPr>
                      <a:r>
                        <a:rPr b="1" i="0" lang="en-US" sz="1300" u="none" cap="none" strike="noStrike">
                          <a:solidFill>
                            <a:srgbClr val="F8FAFC"/>
                          </a:solidFill>
                          <a:latin typeface="Urbanist"/>
                          <a:ea typeface="Urbanist"/>
                          <a:cs typeface="Urbanist"/>
                          <a:sym typeface="Urbanist"/>
                        </a:rPr>
                        <a:t>Async LLM Scoring/Scam Detection</a:t>
                      </a:r>
                      <a:endParaRPr sz="1500"/>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1E26"/>
                    </a:solidFill>
                  </a:tcPr>
                </a:tc>
                <a:tc>
                  <a:txBody>
                    <a:bodyPr/>
                    <a:lstStyle/>
                    <a:p>
                      <a:pPr indent="0" lvl="0" marL="0" marR="0" rtl="0" algn="l">
                        <a:spcBef>
                          <a:spcPts val="0"/>
                        </a:spcBef>
                        <a:spcAft>
                          <a:spcPts val="0"/>
                        </a:spcAft>
                        <a:buNone/>
                      </a:pPr>
                      <a:r>
                        <a:t/>
                      </a:r>
                      <a:endParaRPr sz="1800" u="none" cap="none" strike="noStrike">
                        <a:solidFill>
                          <a:schemeClr val="dk1"/>
                        </a:solidFill>
                        <a:latin typeface="Calibri"/>
                        <a:ea typeface="Calibri"/>
                        <a:cs typeface="Calibri"/>
                        <a:sym typeface="Calibri"/>
                      </a:endParaRPr>
                    </a:p>
                  </a:txBody>
                  <a:tcPr marT="25400" marB="25400" marR="63500" marL="2667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C1E26"/>
                    </a:solidFill>
                  </a:tcPr>
                </a:tc>
              </a:tr>
            </a:tbl>
          </a:graphicData>
        </a:graphic>
      </p:graphicFrame>
      <p:sp>
        <p:nvSpPr>
          <p:cNvPr id="206" name="Google Shape;206;p21"/>
          <p:cNvSpPr/>
          <p:nvPr/>
        </p:nvSpPr>
        <p:spPr>
          <a:xfrm>
            <a:off x="571500" y="3200400"/>
            <a:ext cx="2786062"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21"/>
          <p:cNvSpPr/>
          <p:nvPr/>
        </p:nvSpPr>
        <p:spPr>
          <a:xfrm>
            <a:off x="3357562" y="3200400"/>
            <a:ext cx="2754213"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21"/>
          <p:cNvSpPr/>
          <p:nvPr/>
        </p:nvSpPr>
        <p:spPr>
          <a:xfrm>
            <a:off x="6111775" y="3200400"/>
            <a:ext cx="3168104"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21"/>
          <p:cNvSpPr/>
          <p:nvPr/>
        </p:nvSpPr>
        <p:spPr>
          <a:xfrm>
            <a:off x="9279880" y="3200400"/>
            <a:ext cx="2340619"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10" name="Google Shape;210;p21"/>
          <p:cNvPicPr preferRelativeResize="0"/>
          <p:nvPr/>
        </p:nvPicPr>
        <p:blipFill rotWithShape="1">
          <a:blip r:embed="rId4">
            <a:alphaModFix/>
          </a:blip>
          <a:srcRect b="0" l="0" r="0" t="0"/>
          <a:stretch/>
        </p:blipFill>
        <p:spPr>
          <a:xfrm>
            <a:off x="10262720" y="3419800"/>
            <a:ext cx="323200" cy="323200"/>
          </a:xfrm>
          <a:prstGeom prst="rect">
            <a:avLst/>
          </a:prstGeom>
          <a:noFill/>
          <a:ln>
            <a:noFill/>
          </a:ln>
        </p:spPr>
      </p:pic>
      <p:pic>
        <p:nvPicPr>
          <p:cNvPr descr="image.png" id="211" name="Google Shape;211;p21"/>
          <p:cNvPicPr preferRelativeResize="0"/>
          <p:nvPr/>
        </p:nvPicPr>
        <p:blipFill rotWithShape="1">
          <a:blip r:embed="rId5">
            <a:alphaModFix/>
          </a:blip>
          <a:srcRect b="0" l="0" r="0" t="0"/>
          <a:stretch/>
        </p:blipFill>
        <p:spPr>
          <a:xfrm>
            <a:off x="10262725" y="4080450"/>
            <a:ext cx="323200" cy="323200"/>
          </a:xfrm>
          <a:prstGeom prst="rect">
            <a:avLst/>
          </a:prstGeom>
          <a:noFill/>
          <a:ln>
            <a:noFill/>
          </a:ln>
        </p:spPr>
      </p:pic>
      <p:pic>
        <p:nvPicPr>
          <p:cNvPr descr="image.png" id="212" name="Google Shape;212;p21"/>
          <p:cNvPicPr preferRelativeResize="0"/>
          <p:nvPr/>
        </p:nvPicPr>
        <p:blipFill rotWithShape="1">
          <a:blip r:embed="rId6">
            <a:alphaModFix/>
          </a:blip>
          <a:srcRect b="0" l="0" r="0" t="0"/>
          <a:stretch/>
        </p:blipFill>
        <p:spPr>
          <a:xfrm>
            <a:off x="10262720" y="4741100"/>
            <a:ext cx="323200" cy="323200"/>
          </a:xfrm>
          <a:prstGeom prst="rect">
            <a:avLst/>
          </a:prstGeom>
          <a:noFill/>
          <a:ln>
            <a:noFill/>
          </a:ln>
        </p:spPr>
      </p:pic>
      <p:sp>
        <p:nvSpPr>
          <p:cNvPr id="213" name="Google Shape;213;p21"/>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Market Comparison</a:t>
            </a:r>
            <a:endParaRPr/>
          </a:p>
        </p:txBody>
      </p:sp>
      <p:sp>
        <p:nvSpPr>
          <p:cNvPr id="214" name="Google Shape;214;p21"/>
          <p:cNvSpPr/>
          <p:nvPr/>
        </p:nvSpPr>
        <p:spPr>
          <a:xfrm>
            <a:off x="571500" y="571500"/>
            <a:ext cx="57150" cy="600075"/>
          </a:xfrm>
          <a:prstGeom prst="rect">
            <a:avLst/>
          </a:prstGeom>
          <a:solidFill>
            <a:srgbClr val="7C3A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8" name="Shape 218"/>
        <p:cNvGrpSpPr/>
        <p:nvPr/>
      </p:nvGrpSpPr>
      <p:grpSpPr>
        <a:xfrm>
          <a:off x="0" y="0"/>
          <a:ext cx="0" cy="0"/>
          <a:chOff x="0" y="0"/>
          <a:chExt cx="0" cy="0"/>
        </a:xfrm>
      </p:grpSpPr>
      <p:pic>
        <p:nvPicPr>
          <p:cNvPr descr="image.png" id="219" name="Google Shape;219;p22"/>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220" name="Google Shape;220;p22"/>
          <p:cNvSpPr txBox="1"/>
          <p:nvPr/>
        </p:nvSpPr>
        <p:spPr>
          <a:xfrm>
            <a:off x="3870725" y="1772788"/>
            <a:ext cx="4450500" cy="1731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1250" u="none" cap="none" strike="noStrike">
                <a:solidFill>
                  <a:srgbClr val="F8FAFC"/>
                </a:solidFill>
                <a:latin typeface="Poppins"/>
                <a:ea typeface="Poppins"/>
                <a:cs typeface="Poppins"/>
                <a:sym typeface="Poppins"/>
              </a:rPr>
              <a:t>DEMO</a:t>
            </a:r>
            <a:endParaRPr/>
          </a:p>
        </p:txBody>
      </p:sp>
      <p:sp>
        <p:nvSpPr>
          <p:cNvPr id="221" name="Google Shape;221;p22"/>
          <p:cNvSpPr/>
          <p:nvPr/>
        </p:nvSpPr>
        <p:spPr>
          <a:xfrm>
            <a:off x="4191000" y="3924300"/>
            <a:ext cx="3810000" cy="95250"/>
          </a:xfrm>
          <a:prstGeom prst="roundRect">
            <a:avLst>
              <a:gd fmla="val 30000" name="adj"/>
            </a:avLst>
          </a:prstGeom>
          <a:solidFill>
            <a:srgbClr val="7C3A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22"/>
          <p:cNvSpPr txBox="1"/>
          <p:nvPr/>
        </p:nvSpPr>
        <p:spPr>
          <a:xfrm>
            <a:off x="4119562" y="4610100"/>
            <a:ext cx="3952875" cy="45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2400" u="none" cap="none" strike="noStrike">
                <a:solidFill>
                  <a:srgbClr val="7C3AED"/>
                </a:solidFill>
                <a:latin typeface="Urbanist"/>
                <a:ea typeface="Urbanist"/>
                <a:cs typeface="Urbanist"/>
                <a:sym typeface="Urbanist"/>
              </a:rPr>
              <a:t>LIVE SYSTEM PREVIEW</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11A"/>
        </a:solidFill>
      </p:bgPr>
    </p:bg>
    <p:spTree>
      <p:nvGrpSpPr>
        <p:cNvPr id="226" name="Shape 226"/>
        <p:cNvGrpSpPr/>
        <p:nvPr/>
      </p:nvGrpSpPr>
      <p:grpSpPr>
        <a:xfrm>
          <a:off x="0" y="0"/>
          <a:ext cx="0" cy="0"/>
          <a:chOff x="0" y="0"/>
          <a:chExt cx="0" cy="0"/>
        </a:xfrm>
      </p:grpSpPr>
      <p:pic>
        <p:nvPicPr>
          <p:cNvPr descr="image.png" id="227" name="Google Shape;227;p23"/>
          <p:cNvPicPr preferRelativeResize="0"/>
          <p:nvPr/>
        </p:nvPicPr>
        <p:blipFill rotWithShape="1">
          <a:blip r:embed="rId3">
            <a:alphaModFix/>
          </a:blip>
          <a:srcRect b="0" l="0" r="0" t="0"/>
          <a:stretch/>
        </p:blipFill>
        <p:spPr>
          <a:xfrm>
            <a:off x="0" y="45800"/>
            <a:ext cx="12192000" cy="6858000"/>
          </a:xfrm>
          <a:prstGeom prst="rect">
            <a:avLst/>
          </a:prstGeom>
          <a:noFill/>
          <a:ln>
            <a:noFill/>
          </a:ln>
        </p:spPr>
      </p:pic>
      <p:pic>
        <p:nvPicPr>
          <p:cNvPr descr="image.png" id="228" name="Google Shape;228;p23"/>
          <p:cNvPicPr preferRelativeResize="0"/>
          <p:nvPr/>
        </p:nvPicPr>
        <p:blipFill rotWithShape="1">
          <a:blip r:embed="rId4">
            <a:alphaModFix/>
          </a:blip>
          <a:srcRect b="0" l="0" r="0" t="0"/>
          <a:stretch/>
        </p:blipFill>
        <p:spPr>
          <a:xfrm>
            <a:off x="571500" y="2109787"/>
            <a:ext cx="5286375" cy="3619500"/>
          </a:xfrm>
          <a:prstGeom prst="rect">
            <a:avLst/>
          </a:prstGeom>
          <a:noFill/>
          <a:ln>
            <a:noFill/>
          </a:ln>
        </p:spPr>
      </p:pic>
      <p:pic>
        <p:nvPicPr>
          <p:cNvPr descr="image.png" id="229" name="Google Shape;229;p23"/>
          <p:cNvPicPr preferRelativeResize="0"/>
          <p:nvPr/>
        </p:nvPicPr>
        <p:blipFill rotWithShape="1">
          <a:blip r:embed="rId5">
            <a:alphaModFix/>
          </a:blip>
          <a:srcRect b="0" l="0" r="0" t="0"/>
          <a:stretch/>
        </p:blipFill>
        <p:spPr>
          <a:xfrm>
            <a:off x="6334125" y="2081212"/>
            <a:ext cx="5286375" cy="2066925"/>
          </a:xfrm>
          <a:prstGeom prst="rect">
            <a:avLst/>
          </a:prstGeom>
          <a:noFill/>
          <a:ln>
            <a:noFill/>
          </a:ln>
        </p:spPr>
      </p:pic>
      <p:pic>
        <p:nvPicPr>
          <p:cNvPr descr="image.png" id="230" name="Google Shape;230;p23"/>
          <p:cNvPicPr preferRelativeResize="0"/>
          <p:nvPr/>
        </p:nvPicPr>
        <p:blipFill rotWithShape="1">
          <a:blip r:embed="rId6">
            <a:alphaModFix/>
          </a:blip>
          <a:srcRect b="0" l="0" r="0" t="0"/>
          <a:stretch/>
        </p:blipFill>
        <p:spPr>
          <a:xfrm>
            <a:off x="6619875" y="3652837"/>
            <a:ext cx="1657350" cy="257175"/>
          </a:xfrm>
          <a:prstGeom prst="rect">
            <a:avLst/>
          </a:prstGeom>
          <a:noFill/>
          <a:ln>
            <a:noFill/>
          </a:ln>
        </p:spPr>
      </p:pic>
      <p:pic>
        <p:nvPicPr>
          <p:cNvPr descr="image.png" id="231" name="Google Shape;231;p23"/>
          <p:cNvPicPr preferRelativeResize="0"/>
          <p:nvPr/>
        </p:nvPicPr>
        <p:blipFill rotWithShape="1">
          <a:blip r:embed="rId7">
            <a:alphaModFix/>
          </a:blip>
          <a:srcRect b="0" l="0" r="0" t="0"/>
          <a:stretch/>
        </p:blipFill>
        <p:spPr>
          <a:xfrm>
            <a:off x="581025" y="2119312"/>
            <a:ext cx="5267325" cy="3600450"/>
          </a:xfrm>
          <a:prstGeom prst="rect">
            <a:avLst/>
          </a:prstGeom>
          <a:noFill/>
          <a:ln>
            <a:noFill/>
          </a:ln>
        </p:spPr>
      </p:pic>
      <p:sp>
        <p:nvSpPr>
          <p:cNvPr id="232" name="Google Shape;232;p23"/>
          <p:cNvSpPr txBox="1"/>
          <p:nvPr/>
        </p:nvSpPr>
        <p:spPr>
          <a:xfrm>
            <a:off x="6619875" y="2319337"/>
            <a:ext cx="5000625"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10B981"/>
                </a:solidFill>
                <a:latin typeface="Poppins SemiBold"/>
                <a:ea typeface="Poppins SemiBold"/>
                <a:cs typeface="Poppins SemiBold"/>
                <a:sym typeface="Poppins SemiBold"/>
              </a:rPr>
              <a:t>Successful Launch</a:t>
            </a:r>
            <a:endParaRPr/>
          </a:p>
        </p:txBody>
      </p:sp>
      <p:sp>
        <p:nvSpPr>
          <p:cNvPr id="233" name="Google Shape;233;p23"/>
          <p:cNvSpPr txBox="1"/>
          <p:nvPr/>
        </p:nvSpPr>
        <p:spPr>
          <a:xfrm>
            <a:off x="6619875" y="2814637"/>
            <a:ext cx="4762500" cy="571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Urbanist"/>
                <a:ea typeface="Urbanist"/>
                <a:cs typeface="Urbanist"/>
                <a:sym typeface="Urbanist"/>
              </a:rPr>
              <a:t>Functional PoC delivering curated tour lists based on objective value scoring.</a:t>
            </a:r>
            <a:endParaRPr/>
          </a:p>
        </p:txBody>
      </p:sp>
      <p:sp>
        <p:nvSpPr>
          <p:cNvPr id="234" name="Google Shape;234;p23"/>
          <p:cNvSpPr txBox="1"/>
          <p:nvPr/>
        </p:nvSpPr>
        <p:spPr>
          <a:xfrm>
            <a:off x="6715125" y="4386262"/>
            <a:ext cx="490537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Urbanist"/>
                <a:ea typeface="Urbanist"/>
                <a:cs typeface="Urbanist"/>
                <a:sym typeface="Urbanist"/>
              </a:rPr>
              <a:t>Personalized interest-based filtering.</a:t>
            </a:r>
            <a:endParaRPr/>
          </a:p>
        </p:txBody>
      </p:sp>
      <p:sp>
        <p:nvSpPr>
          <p:cNvPr id="235" name="Google Shape;235;p23"/>
          <p:cNvSpPr txBox="1"/>
          <p:nvPr/>
        </p:nvSpPr>
        <p:spPr>
          <a:xfrm>
            <a:off x="6715125" y="4843462"/>
            <a:ext cx="490537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Urbanist"/>
                <a:ea typeface="Urbanist"/>
                <a:cs typeface="Urbanist"/>
                <a:sym typeface="Urbanist"/>
              </a:rPr>
              <a:t>Multi-source review aggregation (Yelp/TripAdvisor).</a:t>
            </a:r>
            <a:endParaRPr/>
          </a:p>
        </p:txBody>
      </p:sp>
      <p:sp>
        <p:nvSpPr>
          <p:cNvPr id="236" name="Google Shape;236;p23"/>
          <p:cNvSpPr txBox="1"/>
          <p:nvPr/>
        </p:nvSpPr>
        <p:spPr>
          <a:xfrm>
            <a:off x="6715125" y="5300662"/>
            <a:ext cx="4905375"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94A3B8"/>
                </a:solidFill>
                <a:latin typeface="Urbanist"/>
                <a:ea typeface="Urbanist"/>
                <a:cs typeface="Urbanist"/>
                <a:sym typeface="Urbanist"/>
              </a:rPr>
              <a:t>Transition to native mobile UI.</a:t>
            </a:r>
            <a:endParaRPr/>
          </a:p>
        </p:txBody>
      </p:sp>
      <p:sp>
        <p:nvSpPr>
          <p:cNvPr id="237" name="Google Shape;237;p23"/>
          <p:cNvSpPr txBox="1"/>
          <p:nvPr/>
        </p:nvSpPr>
        <p:spPr>
          <a:xfrm>
            <a:off x="6334125" y="4386262"/>
            <a:ext cx="1905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7C3AED"/>
                </a:solidFill>
                <a:latin typeface="Urbanist"/>
                <a:ea typeface="Urbanist"/>
                <a:cs typeface="Urbanist"/>
                <a:sym typeface="Urbanist"/>
              </a:rPr>
              <a:t>→</a:t>
            </a:r>
            <a:endParaRPr/>
          </a:p>
        </p:txBody>
      </p:sp>
      <p:sp>
        <p:nvSpPr>
          <p:cNvPr id="238" name="Google Shape;238;p23"/>
          <p:cNvSpPr txBox="1"/>
          <p:nvPr/>
        </p:nvSpPr>
        <p:spPr>
          <a:xfrm>
            <a:off x="6334125" y="4843462"/>
            <a:ext cx="1905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7C3AED"/>
                </a:solidFill>
                <a:latin typeface="Urbanist"/>
                <a:ea typeface="Urbanist"/>
                <a:cs typeface="Urbanist"/>
                <a:sym typeface="Urbanist"/>
              </a:rPr>
              <a:t>→</a:t>
            </a:r>
            <a:endParaRPr/>
          </a:p>
        </p:txBody>
      </p:sp>
      <p:sp>
        <p:nvSpPr>
          <p:cNvPr id="239" name="Google Shape;239;p23"/>
          <p:cNvSpPr txBox="1"/>
          <p:nvPr/>
        </p:nvSpPr>
        <p:spPr>
          <a:xfrm>
            <a:off x="6334125" y="5300662"/>
            <a:ext cx="19050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7C3AED"/>
                </a:solidFill>
                <a:latin typeface="Urbanist"/>
                <a:ea typeface="Urbanist"/>
                <a:cs typeface="Urbanist"/>
                <a:sym typeface="Urbanist"/>
              </a:rPr>
              <a:t>→</a:t>
            </a:r>
            <a:endParaRPr/>
          </a:p>
        </p:txBody>
      </p:sp>
      <p:sp>
        <p:nvSpPr>
          <p:cNvPr id="240" name="Google Shape;240;p23"/>
          <p:cNvSpPr txBox="1"/>
          <p:nvPr/>
        </p:nvSpPr>
        <p:spPr>
          <a:xfrm>
            <a:off x="762000" y="571500"/>
            <a:ext cx="11401425" cy="600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Poppins"/>
                <a:ea typeface="Poppins"/>
                <a:cs typeface="Poppins"/>
                <a:sym typeface="Poppins"/>
              </a:rPr>
              <a:t>Results &amp; Future Scope</a:t>
            </a:r>
            <a:endParaRPr/>
          </a:p>
        </p:txBody>
      </p:sp>
      <p:sp>
        <p:nvSpPr>
          <p:cNvPr id="241" name="Google Shape;241;p23"/>
          <p:cNvSpPr/>
          <p:nvPr/>
        </p:nvSpPr>
        <p:spPr>
          <a:xfrm>
            <a:off x="571500" y="571500"/>
            <a:ext cx="57150" cy="600075"/>
          </a:xfrm>
          <a:prstGeom prst="rect">
            <a:avLst/>
          </a:prstGeom>
          <a:solidFill>
            <a:srgbClr val="7C3A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descr="image.png" id="246" name="Google Shape;246;p24"/>
          <p:cNvPicPr preferRelativeResize="0"/>
          <p:nvPr/>
        </p:nvPicPr>
        <p:blipFill rotWithShape="1">
          <a:blip r:embed="rId3">
            <a:alphaModFix/>
          </a:blip>
          <a:srcRect b="0" l="0" r="0" t="0"/>
          <a:stretch/>
        </p:blipFill>
        <p:spPr>
          <a:xfrm>
            <a:off x="0" y="45800"/>
            <a:ext cx="12192000" cy="6858000"/>
          </a:xfrm>
          <a:prstGeom prst="rect">
            <a:avLst/>
          </a:prstGeom>
          <a:noFill/>
          <a:ln>
            <a:noFill/>
          </a:ln>
        </p:spPr>
      </p:pic>
      <p:sp>
        <p:nvSpPr>
          <p:cNvPr id="247" name="Google Shape;247;p24"/>
          <p:cNvSpPr txBox="1"/>
          <p:nvPr/>
        </p:nvSpPr>
        <p:spPr>
          <a:xfrm>
            <a:off x="3952800" y="2617500"/>
            <a:ext cx="4286400" cy="1623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7200">
                <a:solidFill>
                  <a:schemeClr val="lt1"/>
                </a:solidFill>
                <a:latin typeface="Poppins ExtraBold"/>
                <a:ea typeface="Poppins ExtraBold"/>
                <a:cs typeface="Poppins ExtraBold"/>
                <a:sym typeface="Poppins ExtraBold"/>
              </a:rPr>
              <a:t>Q&amp;A</a:t>
            </a:r>
            <a:endParaRPr sz="7200">
              <a:solidFill>
                <a:schemeClr val="lt1"/>
              </a:solidFill>
              <a:latin typeface="Poppins ExtraBold"/>
              <a:ea typeface="Poppins ExtraBold"/>
              <a:cs typeface="Poppins ExtraBold"/>
              <a:sym typeface="Poppins ExtraBo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