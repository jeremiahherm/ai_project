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6858000" cx="12192000"/>
  <p:notesSz cx="6858000" cy="9144000"/>
  <p:embeddedFontLst>
    <p:embeddedFont>
      <p:font typeface="Poppins"/>
      <p:regular r:id="rId19"/>
      <p:bold r:id="rId20"/>
      <p:italic r:id="rId21"/>
      <p:boldItalic r:id="rId22"/>
    </p:embeddedFont>
    <p:embeddedFont>
      <p:font typeface="Urbanist SemiBold"/>
      <p:regular r:id="rId23"/>
      <p:bold r:id="rId24"/>
      <p:italic r:id="rId25"/>
      <p:boldItalic r:id="rId26"/>
    </p:embeddedFont>
    <p:embeddedFont>
      <p:font typeface="Urbanist Medium"/>
      <p:regular r:id="rId27"/>
      <p:bold r:id="rId28"/>
      <p:italic r:id="rId29"/>
      <p:boldItalic r:id="rId30"/>
    </p:embeddedFont>
    <p:embeddedFont>
      <p:font typeface="Urbanist"/>
      <p:regular r:id="rId31"/>
      <p:bold r:id="rId32"/>
      <p:italic r:id="rId33"/>
      <p:boldItalic r:id="rId34"/>
    </p:embeddedFont>
    <p:embeddedFont>
      <p:font typeface="Poppins SemiBold"/>
      <p:regular r:id="rId35"/>
      <p:bold r:id="rId36"/>
      <p:italic r:id="rId37"/>
      <p:boldItalic r:id="rId38"/>
    </p:embeddedFont>
    <p:embeddedFont>
      <p:font typeface="Poppins ExtraBold"/>
      <p:bold r:id="rId39"/>
      <p:boldItalic r:id="rId4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4808F9B-54B5-4805-B347-0F1B3F1C9F69}">
  <a:tblStyle styleId="{44808F9B-54B5-4805-B347-0F1B3F1C9F6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PoppinsExtraBold-boldItalic.fntdata"/><Relationship Id="rId20" Type="http://schemas.openxmlformats.org/officeDocument/2006/relationships/font" Target="fonts/Poppins-bold.fntdata"/><Relationship Id="rId22" Type="http://schemas.openxmlformats.org/officeDocument/2006/relationships/font" Target="fonts/Poppins-boldItalic.fntdata"/><Relationship Id="rId21" Type="http://schemas.openxmlformats.org/officeDocument/2006/relationships/font" Target="fonts/Poppins-italic.fntdata"/><Relationship Id="rId24" Type="http://schemas.openxmlformats.org/officeDocument/2006/relationships/font" Target="fonts/UrbanistSemiBold-bold.fntdata"/><Relationship Id="rId23" Type="http://schemas.openxmlformats.org/officeDocument/2006/relationships/font" Target="fonts/UrbanistSemiBold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UrbanistSemiBold-boldItalic.fntdata"/><Relationship Id="rId25" Type="http://schemas.openxmlformats.org/officeDocument/2006/relationships/font" Target="fonts/UrbanistSemiBold-italic.fntdata"/><Relationship Id="rId28" Type="http://schemas.openxmlformats.org/officeDocument/2006/relationships/font" Target="fonts/UrbanistMedium-bold.fntdata"/><Relationship Id="rId27" Type="http://schemas.openxmlformats.org/officeDocument/2006/relationships/font" Target="fonts/UrbanistMedium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UrbanistMedium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Urbanist-regular.fntdata"/><Relationship Id="rId30" Type="http://schemas.openxmlformats.org/officeDocument/2006/relationships/font" Target="fonts/UrbanistMedium-boldItalic.fntdata"/><Relationship Id="rId11" Type="http://schemas.openxmlformats.org/officeDocument/2006/relationships/slide" Target="slides/slide5.xml"/><Relationship Id="rId33" Type="http://schemas.openxmlformats.org/officeDocument/2006/relationships/font" Target="fonts/Urbanist-italic.fntdata"/><Relationship Id="rId10" Type="http://schemas.openxmlformats.org/officeDocument/2006/relationships/slide" Target="slides/slide4.xml"/><Relationship Id="rId32" Type="http://schemas.openxmlformats.org/officeDocument/2006/relationships/font" Target="fonts/Urbanist-bold.fntdata"/><Relationship Id="rId13" Type="http://schemas.openxmlformats.org/officeDocument/2006/relationships/slide" Target="slides/slide7.xml"/><Relationship Id="rId35" Type="http://schemas.openxmlformats.org/officeDocument/2006/relationships/font" Target="fonts/PoppinsSemiBold-regular.fntdata"/><Relationship Id="rId12" Type="http://schemas.openxmlformats.org/officeDocument/2006/relationships/slide" Target="slides/slide6.xml"/><Relationship Id="rId34" Type="http://schemas.openxmlformats.org/officeDocument/2006/relationships/font" Target="fonts/Urbanist-boldItalic.fntdata"/><Relationship Id="rId15" Type="http://schemas.openxmlformats.org/officeDocument/2006/relationships/slide" Target="slides/slide9.xml"/><Relationship Id="rId37" Type="http://schemas.openxmlformats.org/officeDocument/2006/relationships/font" Target="fonts/PoppinsSemiBold-italic.fntdata"/><Relationship Id="rId14" Type="http://schemas.openxmlformats.org/officeDocument/2006/relationships/slide" Target="slides/slide8.xml"/><Relationship Id="rId36" Type="http://schemas.openxmlformats.org/officeDocument/2006/relationships/font" Target="fonts/PoppinsSemiBold-bold.fntdata"/><Relationship Id="rId17" Type="http://schemas.openxmlformats.org/officeDocument/2006/relationships/slide" Target="slides/slide11.xml"/><Relationship Id="rId39" Type="http://schemas.openxmlformats.org/officeDocument/2006/relationships/font" Target="fonts/PoppinsExtraBold-bold.fntdata"/><Relationship Id="rId16" Type="http://schemas.openxmlformats.org/officeDocument/2006/relationships/slide" Target="slides/slide10.xml"/><Relationship Id="rId38" Type="http://schemas.openxmlformats.org/officeDocument/2006/relationships/font" Target="fonts/PoppinsSemiBold-boldItalic.fntdata"/><Relationship Id="rId19" Type="http://schemas.openxmlformats.org/officeDocument/2006/relationships/font" Target="fonts/Poppins-regular.fntdata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dbcd7931b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dbcd7931b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19.png"/><Relationship Id="rId7" Type="http://schemas.openxmlformats.org/officeDocument/2006/relationships/image" Target="../media/image7.png"/><Relationship Id="rId8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8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0.png"/><Relationship Id="rId5" Type="http://schemas.openxmlformats.org/officeDocument/2006/relationships/image" Target="../media/image14.png"/><Relationship Id="rId6" Type="http://schemas.openxmlformats.org/officeDocument/2006/relationships/image" Target="../media/image13.png"/><Relationship Id="rId7" Type="http://schemas.openxmlformats.org/officeDocument/2006/relationships/image" Target="../media/image1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11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4370784" y="1938337"/>
            <a:ext cx="3450431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TourGPT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3205162" y="3271837"/>
            <a:ext cx="57816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AI-Driven Analysis for Modern Trip Planning</a:t>
            </a:r>
            <a:endParaRPr/>
          </a:p>
        </p:txBody>
      </p:sp>
      <p:sp>
        <p:nvSpPr>
          <p:cNvPr id="87" name="Google Shape;87;p13"/>
          <p:cNvSpPr/>
          <p:nvPr/>
        </p:nvSpPr>
        <p:spPr>
          <a:xfrm>
            <a:off x="5524500" y="4319587"/>
            <a:ext cx="1143000" cy="57150"/>
          </a:xfrm>
          <a:prstGeom prst="roundRect">
            <a:avLst>
              <a:gd fmla="val 50000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3543300" y="4662487"/>
            <a:ext cx="51054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7C3AED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Rene Almeida • Jeremiah Hermosillo • Hamad </a:t>
            </a:r>
            <a:r>
              <a:rPr lang="en-US" sz="1650">
                <a:solidFill>
                  <a:srgbClr val="7C3AED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Chughtai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11A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3" name="Google Shape;9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2760583" y="2000250"/>
            <a:ext cx="6670833" cy="12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750" u="none" cap="none" strike="noStrik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The Challenge</a:t>
            </a:r>
            <a:endParaRPr/>
          </a:p>
        </p:txBody>
      </p:sp>
      <p:sp>
        <p:nvSpPr>
          <p:cNvPr id="95" name="Google Shape;95;p14"/>
          <p:cNvSpPr/>
          <p:nvPr/>
        </p:nvSpPr>
        <p:spPr>
          <a:xfrm>
            <a:off x="5524500" y="3581400"/>
            <a:ext cx="1143000" cy="57150"/>
          </a:xfrm>
          <a:prstGeom prst="roundRect">
            <a:avLst>
              <a:gd fmla="val 50000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4062412" y="4191000"/>
            <a:ext cx="4067175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Defining the "Tourist Trap" Problem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11A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1" name="Google Shape;1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4125" y="1919287"/>
            <a:ext cx="5286375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5"/>
          <p:cNvSpPr txBox="1"/>
          <p:nvPr/>
        </p:nvSpPr>
        <p:spPr>
          <a:xfrm>
            <a:off x="571500" y="2328862"/>
            <a:ext cx="5550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7C3AED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Opaque Value Metrics</a:t>
            </a:r>
            <a:endParaRPr sz="1500"/>
          </a:p>
        </p:txBody>
      </p:sp>
      <p:sp>
        <p:nvSpPr>
          <p:cNvPr id="103" name="Google Shape;103;p15"/>
          <p:cNvSpPr txBox="1"/>
          <p:nvPr/>
        </p:nvSpPr>
        <p:spPr>
          <a:xfrm>
            <a:off x="571500" y="2919412"/>
            <a:ext cx="5286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Travelers struggle to determine if a location is a "tourist trap" due to:</a:t>
            </a:r>
            <a:endParaRPr sz="1500"/>
          </a:p>
        </p:txBody>
      </p:sp>
      <p:pic>
        <p:nvPicPr>
          <p:cNvPr descr="image.png" id="104" name="Google Shape;10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43650" y="1928812"/>
            <a:ext cx="5267325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5"/>
          <p:cNvSpPr txBox="1"/>
          <p:nvPr/>
        </p:nvSpPr>
        <p:spPr>
          <a:xfrm>
            <a:off x="952500" y="3681412"/>
            <a:ext cx="49053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Over-inflated pricing relative to service quality.</a:t>
            </a:r>
            <a:endParaRPr sz="1500"/>
          </a:p>
        </p:txBody>
      </p:sp>
      <p:sp>
        <p:nvSpPr>
          <p:cNvPr id="106" name="Google Shape;106;p15"/>
          <p:cNvSpPr txBox="1"/>
          <p:nvPr/>
        </p:nvSpPr>
        <p:spPr>
          <a:xfrm>
            <a:off x="952500" y="4138612"/>
            <a:ext cx="49053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Saturation of "shallow" or incentivized reviews.</a:t>
            </a:r>
            <a:endParaRPr sz="1500"/>
          </a:p>
        </p:txBody>
      </p:sp>
      <p:sp>
        <p:nvSpPr>
          <p:cNvPr id="107" name="Google Shape;107;p15"/>
          <p:cNvSpPr txBox="1"/>
          <p:nvPr/>
        </p:nvSpPr>
        <p:spPr>
          <a:xfrm>
            <a:off x="952500" y="4595812"/>
            <a:ext cx="49053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High tourist density masking low-quality experiences.</a:t>
            </a:r>
            <a:endParaRPr sz="1500"/>
          </a:p>
        </p:txBody>
      </p:sp>
      <p:sp>
        <p:nvSpPr>
          <p:cNvPr id="108" name="Google Shape;108;p15"/>
          <p:cNvSpPr txBox="1"/>
          <p:nvPr/>
        </p:nvSpPr>
        <p:spPr>
          <a:xfrm>
            <a:off x="952500" y="5053012"/>
            <a:ext cx="4905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Difficulty aggregating sentiment across diverse platforms.</a:t>
            </a:r>
            <a:endParaRPr sz="1500"/>
          </a:p>
        </p:txBody>
      </p:sp>
      <p:sp>
        <p:nvSpPr>
          <p:cNvPr id="109" name="Google Shape;109;p15"/>
          <p:cNvSpPr txBox="1"/>
          <p:nvPr/>
        </p:nvSpPr>
        <p:spPr>
          <a:xfrm>
            <a:off x="571500" y="3681412"/>
            <a:ext cx="190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7C3AED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 sz="1500"/>
          </a:p>
        </p:txBody>
      </p:sp>
      <p:sp>
        <p:nvSpPr>
          <p:cNvPr id="110" name="Google Shape;110;p15"/>
          <p:cNvSpPr txBox="1"/>
          <p:nvPr/>
        </p:nvSpPr>
        <p:spPr>
          <a:xfrm>
            <a:off x="571500" y="4138612"/>
            <a:ext cx="190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7C3AED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 sz="1500"/>
          </a:p>
        </p:txBody>
      </p:sp>
      <p:sp>
        <p:nvSpPr>
          <p:cNvPr id="111" name="Google Shape;111;p15"/>
          <p:cNvSpPr txBox="1"/>
          <p:nvPr/>
        </p:nvSpPr>
        <p:spPr>
          <a:xfrm>
            <a:off x="571500" y="4595812"/>
            <a:ext cx="190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7C3AED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 sz="1500"/>
          </a:p>
        </p:txBody>
      </p:sp>
      <p:sp>
        <p:nvSpPr>
          <p:cNvPr id="112" name="Google Shape;112;p15"/>
          <p:cNvSpPr txBox="1"/>
          <p:nvPr/>
        </p:nvSpPr>
        <p:spPr>
          <a:xfrm>
            <a:off x="571500" y="5053012"/>
            <a:ext cx="1905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7C3AED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 sz="1500"/>
          </a:p>
        </p:txBody>
      </p:sp>
      <p:sp>
        <p:nvSpPr>
          <p:cNvPr id="113" name="Google Shape;113;p15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Information Asymmetry</a:t>
            </a:r>
            <a:endParaRPr/>
          </a:p>
        </p:txBody>
      </p:sp>
      <p:sp>
        <p:nvSpPr>
          <p:cNvPr id="114" name="Google Shape;114;p15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9" name="Google Shape;11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 txBox="1"/>
          <p:nvPr/>
        </p:nvSpPr>
        <p:spPr>
          <a:xfrm>
            <a:off x="762000" y="571500"/>
            <a:ext cx="50006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The TourGPT Logic</a:t>
            </a:r>
            <a:endParaRPr/>
          </a:p>
        </p:txBody>
      </p:sp>
      <p:sp>
        <p:nvSpPr>
          <p:cNvPr id="121" name="Google Shape;121;p16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6"/>
          <p:cNvSpPr txBox="1"/>
          <p:nvPr/>
        </p:nvSpPr>
        <p:spPr>
          <a:xfrm>
            <a:off x="571500" y="1877162"/>
            <a:ext cx="52008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7C3AED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An AI travel companion that automates the vetting process for you!</a:t>
            </a:r>
            <a:endParaRPr/>
          </a:p>
        </p:txBody>
      </p:sp>
      <p:sp>
        <p:nvSpPr>
          <p:cNvPr id="123" name="Google Shape;123;p16"/>
          <p:cNvSpPr txBox="1"/>
          <p:nvPr/>
        </p:nvSpPr>
        <p:spPr>
          <a:xfrm>
            <a:off x="952500" y="3250510"/>
            <a:ext cx="4572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City-Level Search:</a:t>
            </a:r>
            <a:r>
              <a:rPr b="0" i="0" lang="en-US" sz="16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Scans Viator for local tours.</a:t>
            </a:r>
            <a:endParaRPr sz="1500"/>
          </a:p>
        </p:txBody>
      </p:sp>
      <p:sp>
        <p:nvSpPr>
          <p:cNvPr id="124" name="Google Shape;124;p16"/>
          <p:cNvSpPr txBox="1"/>
          <p:nvPr/>
        </p:nvSpPr>
        <p:spPr>
          <a:xfrm>
            <a:off x="952500" y="3707710"/>
            <a:ext cx="4572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Value Scoring:</a:t>
            </a:r>
            <a:r>
              <a:rPr b="0" i="0" lang="en-US" sz="16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Cross-references price vs sentiment.</a:t>
            </a:r>
            <a:endParaRPr sz="1500"/>
          </a:p>
        </p:txBody>
      </p:sp>
      <p:sp>
        <p:nvSpPr>
          <p:cNvPr id="125" name="Google Shape;125;p16"/>
          <p:cNvSpPr txBox="1"/>
          <p:nvPr/>
        </p:nvSpPr>
        <p:spPr>
          <a:xfrm>
            <a:off x="952500" y="4506444"/>
            <a:ext cx="4572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Verified Ranking:</a:t>
            </a:r>
            <a:r>
              <a:rPr b="0" i="0" lang="en-US" sz="16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Outputs a ranked list from "Best Value" to "Trap."</a:t>
            </a:r>
            <a:endParaRPr sz="1500"/>
          </a:p>
        </p:txBody>
      </p:sp>
      <p:sp>
        <p:nvSpPr>
          <p:cNvPr id="126" name="Google Shape;126;p16"/>
          <p:cNvSpPr txBox="1"/>
          <p:nvPr/>
        </p:nvSpPr>
        <p:spPr>
          <a:xfrm>
            <a:off x="571500" y="3264171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7C3AED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571500" y="3707710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7C3AED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571500" y="4506444"/>
            <a:ext cx="1905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7C3AED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/>
          </a:p>
        </p:txBody>
      </p:sp>
      <p:pic>
        <p:nvPicPr>
          <p:cNvPr id="129" name="Google Shape;129;p16" title="travel-agen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90400" y="990600"/>
            <a:ext cx="4876800" cy="487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7"/>
          <p:cNvSpPr/>
          <p:nvPr/>
        </p:nvSpPr>
        <p:spPr>
          <a:xfrm>
            <a:off x="571500" y="3910012"/>
            <a:ext cx="11049000" cy="190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/>
          <p:nvPr/>
        </p:nvSpPr>
        <p:spPr>
          <a:xfrm>
            <a:off x="1752525" y="3081316"/>
            <a:ext cx="400200" cy="399900"/>
          </a:xfrm>
          <a:prstGeom prst="roundRect">
            <a:avLst>
              <a:gd fmla="val 50000" name="adj"/>
            </a:avLst>
          </a:prstGeom>
          <a:solidFill>
            <a:srgbClr val="7C3AED"/>
          </a:solidFill>
          <a:ln cap="flat" cmpd="sng" w="38100">
            <a:solidFill>
              <a:srgbClr val="0F11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1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 txBox="1"/>
          <p:nvPr/>
        </p:nvSpPr>
        <p:spPr>
          <a:xfrm>
            <a:off x="602456" y="3595687"/>
            <a:ext cx="2700337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7C3AED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Input</a:t>
            </a:r>
            <a:endParaRPr/>
          </a:p>
        </p:txBody>
      </p:sp>
      <p:sp>
        <p:nvSpPr>
          <p:cNvPr id="137" name="Google Shape;137;p17"/>
          <p:cNvSpPr txBox="1"/>
          <p:nvPr/>
        </p:nvSpPr>
        <p:spPr>
          <a:xfrm>
            <a:off x="666750" y="4186237"/>
            <a:ext cx="25717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Chatbot parses user city &amp; dates.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3364706" y="3595687"/>
            <a:ext cx="2700337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7C3AED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Fetch</a:t>
            </a:r>
            <a:endParaRPr/>
          </a:p>
        </p:txBody>
      </p:sp>
      <p:sp>
        <p:nvSpPr>
          <p:cNvPr id="139" name="Google Shape;139;p17"/>
          <p:cNvSpPr txBox="1"/>
          <p:nvPr/>
        </p:nvSpPr>
        <p:spPr>
          <a:xfrm>
            <a:off x="3429000" y="4186237"/>
            <a:ext cx="25717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Viator API retrieves live tour options.</a:t>
            </a:r>
            <a:endParaRPr/>
          </a:p>
        </p:txBody>
      </p:sp>
      <p:sp>
        <p:nvSpPr>
          <p:cNvPr id="140" name="Google Shape;140;p17"/>
          <p:cNvSpPr/>
          <p:nvPr/>
        </p:nvSpPr>
        <p:spPr>
          <a:xfrm>
            <a:off x="7362825" y="3081337"/>
            <a:ext cx="228600" cy="228600"/>
          </a:xfrm>
          <a:prstGeom prst="roundRect">
            <a:avLst>
              <a:gd fmla="val 50000" name="adj"/>
            </a:avLst>
          </a:prstGeom>
          <a:solidFill>
            <a:srgbClr val="7C3AED"/>
          </a:solidFill>
          <a:ln cap="flat" cmpd="sng" w="38100">
            <a:solidFill>
              <a:srgbClr val="0F11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 txBox="1"/>
          <p:nvPr/>
        </p:nvSpPr>
        <p:spPr>
          <a:xfrm>
            <a:off x="6126956" y="3595687"/>
            <a:ext cx="2700337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7C3AED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Analyze</a:t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6191250" y="4186237"/>
            <a:ext cx="25717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Async sentiment scoring via Google Maps.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8889206" y="3595687"/>
            <a:ext cx="2700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7C3AED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Output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8953500" y="4186237"/>
            <a:ext cx="25717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Ranked recommendations sent to Frontend UI.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Technical Implementation</a:t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4514775" y="3081316"/>
            <a:ext cx="400200" cy="399900"/>
          </a:xfrm>
          <a:prstGeom prst="roundRect">
            <a:avLst>
              <a:gd fmla="val 50000" name="adj"/>
            </a:avLst>
          </a:prstGeom>
          <a:solidFill>
            <a:srgbClr val="7C3AED"/>
          </a:solidFill>
          <a:ln cap="flat" cmpd="sng" w="38100">
            <a:solidFill>
              <a:srgbClr val="0F11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1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7277025" y="3081316"/>
            <a:ext cx="400200" cy="399900"/>
          </a:xfrm>
          <a:prstGeom prst="roundRect">
            <a:avLst>
              <a:gd fmla="val 50000" name="adj"/>
            </a:avLst>
          </a:prstGeom>
          <a:solidFill>
            <a:srgbClr val="7C3AED"/>
          </a:solidFill>
          <a:ln cap="flat" cmpd="sng" w="38100">
            <a:solidFill>
              <a:srgbClr val="0F11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1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10039275" y="3081316"/>
            <a:ext cx="400200" cy="399900"/>
          </a:xfrm>
          <a:prstGeom prst="roundRect">
            <a:avLst>
              <a:gd fmla="val 50000" name="adj"/>
            </a:avLst>
          </a:prstGeom>
          <a:solidFill>
            <a:srgbClr val="7C3AED"/>
          </a:solidFill>
          <a:ln cap="flat" cmpd="sng" w="38100">
            <a:solidFill>
              <a:srgbClr val="0F11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1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11A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4" name="Google Shape;15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5" name="Google Shape;155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95537"/>
            <a:ext cx="3555950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17950" y="2395537"/>
            <a:ext cx="3555950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7" name="Google Shape;157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4400" y="2395537"/>
            <a:ext cx="3555950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8" name="Google Shape;158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66775" y="2690812"/>
            <a:ext cx="3048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8"/>
          <p:cNvSpPr txBox="1"/>
          <p:nvPr/>
        </p:nvSpPr>
        <p:spPr>
          <a:xfrm>
            <a:off x="866775" y="3224212"/>
            <a:ext cx="311367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7C3AED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Async Evaluation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866775" y="3814762"/>
            <a:ext cx="29654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Reviews for tour companies are analyzed asynchronously to maintain chatbot speed and responsiveness.</a:t>
            </a:r>
            <a:endParaRPr/>
          </a:p>
        </p:txBody>
      </p:sp>
      <p:pic>
        <p:nvPicPr>
          <p:cNvPr descr="image.png" id="161" name="Google Shape;161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13225" y="2690812"/>
            <a:ext cx="39052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8"/>
          <p:cNvSpPr txBox="1"/>
          <p:nvPr/>
        </p:nvSpPr>
        <p:spPr>
          <a:xfrm>
            <a:off x="4613225" y="3224212"/>
            <a:ext cx="311367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7C3AED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Value Metric</a:t>
            </a:r>
            <a:endParaRPr/>
          </a:p>
        </p:txBody>
      </p:sp>
      <p:sp>
        <p:nvSpPr>
          <p:cNvPr id="163" name="Google Shape;163;p18"/>
          <p:cNvSpPr txBox="1"/>
          <p:nvPr/>
        </p:nvSpPr>
        <p:spPr>
          <a:xfrm>
            <a:off x="4613225" y="3814762"/>
            <a:ext cx="29654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Decides "Tourist Trap" status by weighing user review sentiment directly against tour pricing.</a:t>
            </a:r>
            <a:endParaRPr/>
          </a:p>
        </p:txBody>
      </p:sp>
      <p:pic>
        <p:nvPicPr>
          <p:cNvPr descr="image.png" id="164" name="Google Shape;164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59675" y="2690812"/>
            <a:ext cx="3048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8"/>
          <p:cNvSpPr txBox="1"/>
          <p:nvPr/>
        </p:nvSpPr>
        <p:spPr>
          <a:xfrm>
            <a:off x="8359675" y="3224212"/>
            <a:ext cx="311367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7C3AED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Smart Caching</a:t>
            </a:r>
            <a:endParaRPr/>
          </a:p>
        </p:txBody>
      </p:sp>
      <p:sp>
        <p:nvSpPr>
          <p:cNvPr id="166" name="Google Shape;166;p18"/>
          <p:cNvSpPr txBox="1"/>
          <p:nvPr/>
        </p:nvSpPr>
        <p:spPr>
          <a:xfrm>
            <a:off x="8359675" y="3814762"/>
            <a:ext cx="29654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Pulls from a local database for repeat searches to drastically reduce API token costs.</a:t>
            </a:r>
            <a:endParaRPr/>
          </a:p>
        </p:txBody>
      </p:sp>
      <p:sp>
        <p:nvSpPr>
          <p:cNvPr id="167" name="Google Shape;167;p18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Core Platform Features</a:t>
            </a:r>
            <a:endParaRPr/>
          </a:p>
        </p:txBody>
      </p:sp>
      <p:sp>
        <p:nvSpPr>
          <p:cNvPr id="168" name="Google Shape;168;p18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11A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3" name="Google Shape;17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4" name="Google Shape;174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014537"/>
            <a:ext cx="5286375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5" name="Google Shape;175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2024062"/>
            <a:ext cx="526732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9"/>
          <p:cNvSpPr txBox="1"/>
          <p:nvPr/>
        </p:nvSpPr>
        <p:spPr>
          <a:xfrm>
            <a:off x="6715125" y="2433637"/>
            <a:ext cx="4905375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Viator API Complexity:</a:t>
            </a: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Navigating inconsistent returned values and scheduling feebleness.</a:t>
            </a:r>
            <a:endParaRPr/>
          </a:p>
        </p:txBody>
      </p:sp>
      <p:sp>
        <p:nvSpPr>
          <p:cNvPr id="177" name="Google Shape;177;p19"/>
          <p:cNvSpPr txBox="1"/>
          <p:nvPr/>
        </p:nvSpPr>
        <p:spPr>
          <a:xfrm>
            <a:off x="6715125" y="3176587"/>
            <a:ext cx="4905375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Sentiment Variance:</a:t>
            </a: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Normalizing scores across different LLM prompts and models.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6715125" y="3919537"/>
            <a:ext cx="4905375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Token Efficiency:</a:t>
            </a: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Managing expensive LLM calls without sacrificing deep review analysis.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6715125" y="4662487"/>
            <a:ext cx="4905375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Data Accuracy:</a:t>
            </a: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 Cross-referencing Google Maps and Viator identities reliably.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6334125" y="2433637"/>
            <a:ext cx="1905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7C3AED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6334125" y="3176587"/>
            <a:ext cx="1905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7C3AED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6334125" y="3919537"/>
            <a:ext cx="1905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7C3AED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6334125" y="4662487"/>
            <a:ext cx="1905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7C3AED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/>
          </a:p>
        </p:txBody>
      </p:sp>
      <p:sp>
        <p:nvSpPr>
          <p:cNvPr id="184" name="Google Shape;184;p19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Implementation Roadblocks</a:t>
            </a:r>
            <a:endParaRPr/>
          </a:p>
        </p:txBody>
      </p:sp>
      <p:sp>
        <p:nvSpPr>
          <p:cNvPr id="185" name="Google Shape;185;p19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11A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0" name="Google Shape;19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0"/>
          <p:cNvSpPr txBox="1"/>
          <p:nvPr/>
        </p:nvSpPr>
        <p:spPr>
          <a:xfrm>
            <a:off x="2286000" y="4381500"/>
            <a:ext cx="762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The implementation of a database-first approach ensured that recurring queries were delivered instantly, preserving both user experience and computational resources.</a:t>
            </a:r>
            <a:endParaRPr/>
          </a:p>
        </p:txBody>
      </p:sp>
      <p:sp>
        <p:nvSpPr>
          <p:cNvPr id="192" name="Google Shape;192;p20"/>
          <p:cNvSpPr txBox="1"/>
          <p:nvPr/>
        </p:nvSpPr>
        <p:spPr>
          <a:xfrm>
            <a:off x="571500" y="2668252"/>
            <a:ext cx="34923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rgbClr val="7C3AED"/>
                </a:solidFill>
                <a:latin typeface="Urbanist"/>
                <a:ea typeface="Urbanist"/>
                <a:cs typeface="Urbanist"/>
                <a:sym typeface="Urbanist"/>
              </a:rPr>
              <a:t>~30%</a:t>
            </a:r>
            <a:endParaRPr/>
          </a:p>
        </p:txBody>
      </p:sp>
      <p:sp>
        <p:nvSpPr>
          <p:cNvPr id="193" name="Google Shape;193;p20"/>
          <p:cNvSpPr txBox="1"/>
          <p:nvPr/>
        </p:nvSpPr>
        <p:spPr>
          <a:xfrm>
            <a:off x="571500" y="3743325"/>
            <a:ext cx="34924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94A3B8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Token Cost Savings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4349650" y="2640930"/>
            <a:ext cx="34926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rgbClr val="7C3AED"/>
                </a:solidFill>
                <a:latin typeface="Urbanist"/>
                <a:ea typeface="Urbanist"/>
                <a:cs typeface="Urbanist"/>
                <a:sym typeface="Urbanist"/>
              </a:rPr>
              <a:t>Async</a:t>
            </a:r>
            <a:endParaRPr/>
          </a:p>
        </p:txBody>
      </p:sp>
      <p:sp>
        <p:nvSpPr>
          <p:cNvPr id="195" name="Google Shape;195;p20"/>
          <p:cNvSpPr txBox="1"/>
          <p:nvPr/>
        </p:nvSpPr>
        <p:spPr>
          <a:xfrm>
            <a:off x="4349650" y="3743325"/>
            <a:ext cx="3492549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94A3B8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Processing Logic</a:t>
            </a:r>
            <a:endParaRPr/>
          </a:p>
        </p:txBody>
      </p:sp>
      <p:sp>
        <p:nvSpPr>
          <p:cNvPr id="196" name="Google Shape;196;p20"/>
          <p:cNvSpPr txBox="1"/>
          <p:nvPr/>
        </p:nvSpPr>
        <p:spPr>
          <a:xfrm>
            <a:off x="8127950" y="2668252"/>
            <a:ext cx="34923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rgbClr val="7C3AED"/>
                </a:solidFill>
                <a:latin typeface="Urbanist"/>
                <a:ea typeface="Urbanist"/>
                <a:cs typeface="Urbanist"/>
                <a:sym typeface="Urbanist"/>
              </a:rPr>
              <a:t>Sub-4s</a:t>
            </a:r>
            <a:endParaRPr/>
          </a:p>
        </p:txBody>
      </p:sp>
      <p:sp>
        <p:nvSpPr>
          <p:cNvPr id="197" name="Google Shape;197;p20"/>
          <p:cNvSpPr txBox="1"/>
          <p:nvPr/>
        </p:nvSpPr>
        <p:spPr>
          <a:xfrm>
            <a:off x="8127950" y="3743325"/>
            <a:ext cx="349240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94A3B8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Avg Response Time</a:t>
            </a:r>
            <a:endParaRPr/>
          </a:p>
        </p:txBody>
      </p:sp>
      <p:sp>
        <p:nvSpPr>
          <p:cNvPr id="198" name="Google Shape;198;p20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Performance Optimization</a:t>
            </a:r>
            <a:endParaRPr/>
          </a:p>
        </p:txBody>
      </p:sp>
      <p:sp>
        <p:nvSpPr>
          <p:cNvPr id="199" name="Google Shape;199;p20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11A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4" name="Google Shape;20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05" name="Google Shape;205;p21"/>
          <p:cNvGraphicFramePr/>
          <p:nvPr/>
        </p:nvGraphicFramePr>
        <p:xfrm>
          <a:off x="571500" y="256222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{44808F9B-54B5-4805-B347-0F1B3F1C9F69}</a:tableStyleId>
              </a:tblPr>
              <a:tblGrid>
                <a:gridCol w="2786050"/>
                <a:gridCol w="2754225"/>
                <a:gridCol w="3168100"/>
                <a:gridCol w="2340625"/>
              </a:tblGrid>
              <a:tr h="678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50" u="none" cap="none" strike="noStrik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Platform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50" u="none" cap="none" strike="noStrik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Pricing Focus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50" u="none" cap="none" strike="noStrik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Sentiment Depth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650" u="none" cap="none" strike="noStrik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Value Score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7C3AED"/>
                    </a:solidFill>
                  </a:tcPr>
                </a:tc>
              </a:tr>
              <a:tr h="678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00" u="none" cap="none" strike="noStrike">
                          <a:solidFill>
                            <a:srgbClr val="F8FAFC"/>
                          </a:solidFill>
                          <a:latin typeface="Urbanist SemiBold"/>
                          <a:ea typeface="Urbanist SemiBold"/>
                          <a:cs typeface="Urbanist SemiBold"/>
                          <a:sym typeface="Urbanist SemiBold"/>
                        </a:rPr>
                        <a:t>Layla AI / Mindtrip</a:t>
                      </a:r>
                      <a:endParaRPr sz="15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1E2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Unclear</a:t>
                      </a:r>
                      <a:endParaRPr sz="15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1E2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00" u="none" cap="none" strike="noStrik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General</a:t>
                      </a:r>
                      <a:endParaRPr sz="15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1E2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63500" marL="266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1E26"/>
                    </a:solidFill>
                  </a:tcPr>
                </a:tc>
              </a:tr>
              <a:tr h="678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00" u="none" cap="none" strike="noStrike">
                          <a:solidFill>
                            <a:srgbClr val="F8FAFC"/>
                          </a:solidFill>
                          <a:latin typeface="Urbanist SemiBold"/>
                          <a:ea typeface="Urbanist SemiBold"/>
                          <a:cs typeface="Urbanist SemiBold"/>
                          <a:sym typeface="Urbanist SemiBold"/>
                        </a:rPr>
                        <a:t>EasyTripAI</a:t>
                      </a:r>
                      <a:endParaRPr sz="15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1E2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Subscription</a:t>
                      </a:r>
                      <a:endParaRPr sz="15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1E2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00" u="none" cap="none" strike="noStrik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Scam Detection</a:t>
                      </a:r>
                      <a:endParaRPr sz="15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1E2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63500" marL="266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1E26"/>
                    </a:solidFill>
                  </a:tcPr>
                </a:tc>
              </a:tr>
              <a:tr h="678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TourGPT</a:t>
                      </a:r>
                      <a:endParaRPr sz="15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1E2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FREE</a:t>
                      </a:r>
                      <a:endParaRPr sz="15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1E2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00" u="none" cap="none" strike="noStrike">
                          <a:solidFill>
                            <a:srgbClr val="F8FAFC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Async LLM Scoring/Scam Detection</a:t>
                      </a:r>
                      <a:endParaRPr sz="15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1E2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25400" marB="25400" marR="63500" marL="2667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1E26"/>
                    </a:solidFill>
                  </a:tcPr>
                </a:tc>
              </a:tr>
            </a:tbl>
          </a:graphicData>
        </a:graphic>
      </p:graphicFrame>
      <p:sp>
        <p:nvSpPr>
          <p:cNvPr id="206" name="Google Shape;206;p21"/>
          <p:cNvSpPr/>
          <p:nvPr/>
        </p:nvSpPr>
        <p:spPr>
          <a:xfrm>
            <a:off x="571500" y="3200400"/>
            <a:ext cx="2786062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1"/>
          <p:cNvSpPr/>
          <p:nvPr/>
        </p:nvSpPr>
        <p:spPr>
          <a:xfrm>
            <a:off x="3357562" y="3200400"/>
            <a:ext cx="2754213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1"/>
          <p:cNvSpPr/>
          <p:nvPr/>
        </p:nvSpPr>
        <p:spPr>
          <a:xfrm>
            <a:off x="6111775" y="3200400"/>
            <a:ext cx="3168104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1"/>
          <p:cNvSpPr/>
          <p:nvPr/>
        </p:nvSpPr>
        <p:spPr>
          <a:xfrm>
            <a:off x="9279880" y="3200400"/>
            <a:ext cx="2340619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10" name="Google Shape;210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262720" y="3419800"/>
            <a:ext cx="323200" cy="323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1" name="Google Shape;211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262725" y="4080450"/>
            <a:ext cx="323200" cy="323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2" name="Google Shape;212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262720" y="4741100"/>
            <a:ext cx="323200" cy="323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1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Market Comparison</a:t>
            </a:r>
            <a:endParaRPr/>
          </a:p>
        </p:txBody>
      </p:sp>
      <p:sp>
        <p:nvSpPr>
          <p:cNvPr id="214" name="Google Shape;214;p21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9" name="Google Shape;21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2"/>
          <p:cNvSpPr txBox="1"/>
          <p:nvPr/>
        </p:nvSpPr>
        <p:spPr>
          <a:xfrm>
            <a:off x="3870725" y="1772788"/>
            <a:ext cx="4450500" cy="17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250" u="none" cap="none" strike="noStrik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DEMO</a:t>
            </a:r>
            <a:endParaRPr/>
          </a:p>
        </p:txBody>
      </p:sp>
      <p:sp>
        <p:nvSpPr>
          <p:cNvPr id="221" name="Google Shape;221;p22"/>
          <p:cNvSpPr/>
          <p:nvPr/>
        </p:nvSpPr>
        <p:spPr>
          <a:xfrm>
            <a:off x="4191000" y="3924300"/>
            <a:ext cx="3810000" cy="95250"/>
          </a:xfrm>
          <a:prstGeom prst="roundRect">
            <a:avLst>
              <a:gd fmla="val 30000" name="adj"/>
            </a:avLst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2"/>
          <p:cNvSpPr txBox="1"/>
          <p:nvPr/>
        </p:nvSpPr>
        <p:spPr>
          <a:xfrm>
            <a:off x="4119562" y="4610100"/>
            <a:ext cx="39528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7C3AED"/>
                </a:solidFill>
                <a:latin typeface="Urbanist"/>
                <a:ea typeface="Urbanist"/>
                <a:cs typeface="Urbanist"/>
                <a:sym typeface="Urbanist"/>
              </a:rPr>
              <a:t>LIVE SYSTEM PREVIEW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11A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7" name="Google Shape;22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580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8" name="Google Shape;228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109787"/>
            <a:ext cx="5286375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9" name="Google Shape;229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2081212"/>
            <a:ext cx="5286375" cy="2066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0" name="Google Shape;230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619875" y="3652837"/>
            <a:ext cx="16573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1" name="Google Shape;231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1025" y="2119312"/>
            <a:ext cx="5267325" cy="360045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3"/>
          <p:cNvSpPr txBox="1"/>
          <p:nvPr/>
        </p:nvSpPr>
        <p:spPr>
          <a:xfrm>
            <a:off x="6619875" y="2319337"/>
            <a:ext cx="5000625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0B98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Successful Launch</a:t>
            </a:r>
            <a:endParaRPr/>
          </a:p>
        </p:txBody>
      </p:sp>
      <p:sp>
        <p:nvSpPr>
          <p:cNvPr id="233" name="Google Shape;233;p23"/>
          <p:cNvSpPr txBox="1"/>
          <p:nvPr/>
        </p:nvSpPr>
        <p:spPr>
          <a:xfrm>
            <a:off x="6619875" y="2814637"/>
            <a:ext cx="4762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Functional PoC delivering curated tour lists based on objective value scoring.</a:t>
            </a:r>
            <a:endParaRPr/>
          </a:p>
        </p:txBody>
      </p:sp>
      <p:sp>
        <p:nvSpPr>
          <p:cNvPr id="234" name="Google Shape;234;p23"/>
          <p:cNvSpPr txBox="1"/>
          <p:nvPr/>
        </p:nvSpPr>
        <p:spPr>
          <a:xfrm>
            <a:off x="6715125" y="4386262"/>
            <a:ext cx="49053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Personalized interest-based filtering.</a:t>
            </a:r>
            <a:endParaRPr/>
          </a:p>
        </p:txBody>
      </p:sp>
      <p:sp>
        <p:nvSpPr>
          <p:cNvPr id="235" name="Google Shape;235;p23"/>
          <p:cNvSpPr txBox="1"/>
          <p:nvPr/>
        </p:nvSpPr>
        <p:spPr>
          <a:xfrm>
            <a:off x="6715125" y="4843462"/>
            <a:ext cx="49053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Multi-source review aggregation (Yelp/TripAdvisor).</a:t>
            </a:r>
            <a:endParaRPr/>
          </a:p>
        </p:txBody>
      </p:sp>
      <p:sp>
        <p:nvSpPr>
          <p:cNvPr id="236" name="Google Shape;236;p23"/>
          <p:cNvSpPr txBox="1"/>
          <p:nvPr/>
        </p:nvSpPr>
        <p:spPr>
          <a:xfrm>
            <a:off x="6715125" y="5300662"/>
            <a:ext cx="49053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Transition to native mobile UI.</a:t>
            </a:r>
            <a:endParaRPr/>
          </a:p>
        </p:txBody>
      </p:sp>
      <p:sp>
        <p:nvSpPr>
          <p:cNvPr id="237" name="Google Shape;237;p23"/>
          <p:cNvSpPr txBox="1"/>
          <p:nvPr/>
        </p:nvSpPr>
        <p:spPr>
          <a:xfrm>
            <a:off x="6334125" y="4386262"/>
            <a:ext cx="1905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7C3AED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/>
          </a:p>
        </p:txBody>
      </p:sp>
      <p:sp>
        <p:nvSpPr>
          <p:cNvPr id="238" name="Google Shape;238;p23"/>
          <p:cNvSpPr txBox="1"/>
          <p:nvPr/>
        </p:nvSpPr>
        <p:spPr>
          <a:xfrm>
            <a:off x="6334125" y="4843462"/>
            <a:ext cx="1905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7C3AED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/>
          </a:p>
        </p:txBody>
      </p:sp>
      <p:sp>
        <p:nvSpPr>
          <p:cNvPr id="239" name="Google Shape;239;p23"/>
          <p:cNvSpPr txBox="1"/>
          <p:nvPr/>
        </p:nvSpPr>
        <p:spPr>
          <a:xfrm>
            <a:off x="6334125" y="5300662"/>
            <a:ext cx="1905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7C3AED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endParaRPr/>
          </a:p>
        </p:txBody>
      </p:sp>
      <p:sp>
        <p:nvSpPr>
          <p:cNvPr id="240" name="Google Shape;240;p23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Results &amp; Future Scope</a:t>
            </a:r>
            <a:endParaRPr/>
          </a:p>
        </p:txBody>
      </p:sp>
      <p:sp>
        <p:nvSpPr>
          <p:cNvPr id="241" name="Google Shape;241;p23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6" name="Google Shape;24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580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4"/>
          <p:cNvSpPr txBox="1"/>
          <p:nvPr/>
        </p:nvSpPr>
        <p:spPr>
          <a:xfrm>
            <a:off x="3952800" y="2617500"/>
            <a:ext cx="4286400" cy="16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Q&amp;A</a:t>
            </a:r>
            <a:endParaRPr sz="7200">
              <a:solidFill>
                <a:schemeClr val="lt1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