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 Medium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C57AF7-E65F-4B1F-B393-4A3A100FE12D}">
  <a:tblStyle styleId="{1EC57AF7-E65F-4B1F-B393-4A3A100FE1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370784" y="1938337"/>
            <a:ext cx="3450431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TourGPT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05162" y="3271837"/>
            <a:ext cx="5781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AI-Driven Analysis for Modern Trip Planning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319587"/>
            <a:ext cx="1143000" cy="5715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543300" y="4662487"/>
            <a:ext cx="510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7C3AE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Rene Almeida • Jeremiah Hermosillo • Hamad </a:t>
            </a:r>
            <a:r>
              <a:rPr lang="en-US" sz="1650">
                <a:solidFill>
                  <a:srgbClr val="7C3AED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Chughtai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760583" y="2000250"/>
            <a:ext cx="6670833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524500" y="3581400"/>
            <a:ext cx="1143000" cy="5715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062412" y="4191000"/>
            <a:ext cx="4067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Defining the "Tourist Trap"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192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328862"/>
            <a:ext cx="555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Opaque Value Metrics</a:t>
            </a:r>
            <a:endParaRPr sz="1500"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919412"/>
            <a:ext cx="528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Travelers struggle to determine if a location is a "tourist trap" due to:</a:t>
            </a:r>
            <a:endParaRPr sz="1500"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928812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52500" y="3681412"/>
            <a:ext cx="490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Over-inflated pricing relative to service quality.</a:t>
            </a:r>
            <a:endParaRPr sz="1500"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4138612"/>
            <a:ext cx="490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Saturation of "shallow" or incentivized reviews.</a:t>
            </a:r>
            <a:endParaRPr sz="1500"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4595812"/>
            <a:ext cx="490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 tourist density masking low-quality experiences.</a:t>
            </a:r>
            <a:endParaRPr sz="1500"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5053012"/>
            <a:ext cx="490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Difficulty aggregating sentiment across diverse platforms.</a:t>
            </a:r>
            <a:endParaRPr sz="1500"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681412"/>
            <a:ext cx="19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sz="150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138612"/>
            <a:ext cx="19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sz="1500"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595812"/>
            <a:ext cx="19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sz="1500"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053012"/>
            <a:ext cx="19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 sz="1500"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Information Asymmetry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62000" y="57150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TourGPT Logic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1877162"/>
            <a:ext cx="5200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 AI travel companion that automates the vetting process for you!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3250510"/>
            <a:ext cx="45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City-Level Search: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Scans Viator for local tours.</a:t>
            </a:r>
            <a:endParaRPr sz="1500"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70771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Value Scoring: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Cross-references price vs sentiment.</a:t>
            </a:r>
            <a:endParaRPr sz="1500"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4506444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Verified Ranking:</a:t>
            </a:r>
            <a:r>
              <a:rPr b="0" i="0" lang="en-US" sz="1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Outputs a ranked list from "Best Value" to "Trap."</a:t>
            </a:r>
            <a:endParaRPr sz="1500"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264171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707710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4506444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129" name="Google Shape;129;p16" title="travel-ag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0400" y="9906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571500" y="3910012"/>
            <a:ext cx="11049000" cy="190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752525" y="3081316"/>
            <a:ext cx="400200" cy="3999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38100">
            <a:solidFill>
              <a:srgbClr val="0F1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02456" y="359568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66750" y="4186237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Chatbot parses user city &amp; dates.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364706" y="359568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Fetch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429000" y="4186237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Viator API retrieves live tour options.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7362825" y="30813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38100">
            <a:solidFill>
              <a:srgbClr val="0F1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126956" y="3595687"/>
            <a:ext cx="27003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Analyze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191250" y="4186237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Async sentiment scoring via Google Maps.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889206" y="3595687"/>
            <a:ext cx="27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Output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53500" y="4186237"/>
            <a:ext cx="2571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Ranked recommendations sent to Frontend UI.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Technical Implementation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514775" y="3081316"/>
            <a:ext cx="400200" cy="3999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38100">
            <a:solidFill>
              <a:srgbClr val="0F1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277025" y="3081316"/>
            <a:ext cx="400200" cy="3999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38100">
            <a:solidFill>
              <a:srgbClr val="0F1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10039275" y="3081316"/>
            <a:ext cx="400200" cy="3999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38100">
            <a:solidFill>
              <a:srgbClr val="0F11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5537"/>
            <a:ext cx="35559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95537"/>
            <a:ext cx="35559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95537"/>
            <a:ext cx="35559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90812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66775" y="3224212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Async Evaluation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66775" y="3814762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Reviews for tour companies are analyzed asynchronously to maintain chatbot speed and responsiveness.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69081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4613225" y="3224212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Value Metric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613225" y="381476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Decides "Tourist Trap" status by weighing user review sentiment directly against tour pricing.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690812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8359675" y="3224212"/>
            <a:ext cx="311367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C3AE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Smart Caching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59675" y="3814762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Pulls from a local database for repeat searches to drastically reduce API token costs.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Core Platform Features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240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715125" y="24336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Viator API Complexity: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Navigating inconsistent returned values and scheduling feebleness.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715125" y="31765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Sentiment Variance: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Normalizing scores across different LLM prompts and models.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15125" y="39195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Token Efficiency: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Managing expensive LLM calls without sacrificing deep review analysis.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715125" y="46624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 Accuracy: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Cross-referencing Google Maps and Viator identities reliably.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334125" y="24336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334125" y="31765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39195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334125" y="46624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Implementation Roadblocks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2286000" y="4381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implementation of a database-first approach ensured that recurring queries were delivered instantly, preserving both user experience and computational resources.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2668252"/>
            <a:ext cx="3492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~30%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3743325"/>
            <a:ext cx="349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Token Cost Savings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349650" y="2640930"/>
            <a:ext cx="3492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Async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349650" y="3743325"/>
            <a:ext cx="34925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Processing Logic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127950" y="2668252"/>
            <a:ext cx="3492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Sub-4s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127950" y="3743325"/>
            <a:ext cx="349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Avg Response Time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 Optimization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1"/>
          <p:cNvGraphicFramePr/>
          <p:nvPr/>
        </p:nvGraphicFramePr>
        <p:xfrm>
          <a:off x="571500" y="2562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{1EC57AF7-E65F-4B1F-B393-4A3A100FE12D}</a:tableStyleId>
              </a:tblPr>
              <a:tblGrid>
                <a:gridCol w="2786050"/>
                <a:gridCol w="2754225"/>
                <a:gridCol w="3168100"/>
                <a:gridCol w="2340625"/>
              </a:tblGrid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Pricing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Sentiment Depth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Value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3AED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Layla AI / Mindtrip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Limited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General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EasyTripAI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Yes (Hidden Costs)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Scam Detection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TourGPT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Direct Viator Link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Async LLM Scoring</a:t>
                      </a:r>
                      <a:endParaRPr sz="15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66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1E26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21"/>
          <p:cNvSpPr/>
          <p:nvPr/>
        </p:nvSpPr>
        <p:spPr>
          <a:xfrm>
            <a:off x="571500" y="3200400"/>
            <a:ext cx="27860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357562" y="3200400"/>
            <a:ext cx="275421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111775" y="3200400"/>
            <a:ext cx="31681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9279880" y="3200400"/>
            <a:ext cx="23406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2720" y="3419800"/>
            <a:ext cx="323200" cy="3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2725" y="4080450"/>
            <a:ext cx="323200" cy="3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62720" y="4741100"/>
            <a:ext cx="323200" cy="3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Market Comparison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4514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"High sentiment matching indicates the model correctly interprets natural language reviews to identify user satisfaction peaks."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Value Scoring Accuracy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3870725" y="1772788"/>
            <a:ext cx="44505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DEMO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4191000" y="3924300"/>
            <a:ext cx="3810000" cy="95250"/>
          </a:xfrm>
          <a:prstGeom prst="roundRect">
            <a:avLst>
              <a:gd fmla="val 3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4119562" y="4610100"/>
            <a:ext cx="3952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LIVE SYSTEM PREVIEW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81212"/>
            <a:ext cx="52863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652837"/>
            <a:ext cx="16573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11931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6619875" y="2319337"/>
            <a:ext cx="500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Successful Launch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619875" y="2814637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Functional PoC delivering curated tour lists based on objective value scoring.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715125" y="43862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Personalized interest-based filtering.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6715125" y="48434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Multi-source review aggregation (Yelp/TripAdvisor).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715125" y="530066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Transition to native mobile UI.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334125" y="43862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334125" y="48434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334125" y="53006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Results &amp; Future Scope</a:t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